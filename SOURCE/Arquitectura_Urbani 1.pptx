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Arquitectura propuesta para el caso de uso de observabilidad proactiva de logs de Urbani, a construir durante los DPI del 28 y 29 de septiembre de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scheduler dispara la Lambda Collector cada N minutos; ésta consulta la ventana reciente de CloudWatch y se la pasa a Bedrock. Si hay anomalía, Bedrock devuelve el hallazgo y la recomendación, y la Lambda Alert Writer la persiste en DynamoDB. DynamoDB también alimenta a Bedrock con el contexto histórico. Todo se consulta desde el dashboard: las alertas no salen a canales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pasos 1 y 2 son ingesta, 3 y 4 son el agente de IA, 5 es persistencia y 6 es consumo. El ciclo completo se repite en cada ejecución programada.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capa de inteligencia es la que aporta el diferencial: no sólo alerta, sino que orienta el troubleshooting. La de consumo refleja la decisión de que las alertas no salgan a canales externos.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cuatro decisiones no bloquean el diseño de la arquitectura, pero sí conviene cerrarlas con el equipo de Urbani y con Steven antes de arrancar los DPI.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17320"/>
            <a:ext cx="128016" cy="2286000"/>
          </a:xfrm>
          <a:prstGeom prst="roundRect">
            <a:avLst>
              <a:gd name="adj" fmla="val 50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1234440" y="14630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Propuesta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22860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Observabilidad Proactiva de Logs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2971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Cliente: Urbani   ·   Días de Prototipado Intensivo   ·   28 y 29 de septiembre de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39776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23444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en 2 días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acotado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39776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 de Urbani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soporte OneData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818120" y="397764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18120" y="3977640"/>
            <a:ext cx="3017520" cy="9144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en dashboard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canales externos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5897880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8A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OneData  ·  Documento de trabajo interno — Confidencial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Diagrama de arquitectura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end-to-end sobre AWS — las alertas se consultan únicamente desde el dashboard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2103120"/>
            <a:ext cx="11292840" cy="1417320"/>
          </a:xfrm>
          <a:prstGeom prst="roundRect">
            <a:avLst>
              <a:gd name="adj" fmla="val 3871"/>
            </a:avLst>
          </a:prstGeom>
          <a:solidFill>
            <a:srgbClr val="EEF3F7"/>
          </a:solidFill>
          <a:ln w="12700">
            <a:solidFill>
              <a:srgbClr val="DAE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79976" y="1207008"/>
            <a:ext cx="1554480" cy="621792"/>
          </a:xfrm>
          <a:prstGeom prst="roundRect">
            <a:avLst>
              <a:gd name="adj" fmla="val 11765"/>
            </a:avLst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4379976" y="1207008"/>
            <a:ext cx="155448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1 / 5 / 10 min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157216" y="1828800"/>
            <a:ext cx="0" cy="502920"/>
          </a:xfrm>
          <a:prstGeom prst="line">
            <a:avLst/>
          </a:prstGeom>
          <a:noFill/>
          <a:ln w="22225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85800" y="23317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8580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Beanstalk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apps productivas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532888" y="23317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532888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+ Metrics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79976" y="23317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379976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 / Preprocessor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7064" y="23317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227064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Guardrails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74152" y="23317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074152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Writer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921240" y="23317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3B7EA1"/>
          </a:solidFill>
          <a:ln w="12700">
            <a:solidFill>
              <a:srgbClr val="3B7EA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921240" y="23317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+ histórico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240280" y="2811780"/>
            <a:ext cx="292608" cy="0"/>
          </a:xfrm>
          <a:prstGeom prst="line">
            <a:avLst/>
          </a:prstGeom>
          <a:noFill/>
          <a:ln w="22225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087368" y="2811780"/>
            <a:ext cx="292608" cy="0"/>
          </a:xfrm>
          <a:prstGeom prst="line">
            <a:avLst/>
          </a:prstGeom>
          <a:noFill/>
          <a:ln w="22225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934456" y="2811780"/>
            <a:ext cx="292608" cy="0"/>
          </a:xfrm>
          <a:prstGeom prst="line">
            <a:avLst/>
          </a:prstGeom>
          <a:noFill/>
          <a:ln w="22225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781544" y="2811780"/>
            <a:ext cx="292608" cy="0"/>
          </a:xfrm>
          <a:prstGeom prst="line">
            <a:avLst/>
          </a:prstGeom>
          <a:noFill/>
          <a:ln w="22225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628632" y="2811780"/>
            <a:ext cx="292608" cy="0"/>
          </a:xfrm>
          <a:prstGeom prst="line">
            <a:avLst/>
          </a:prstGeom>
          <a:noFill/>
          <a:ln w="22225">
            <a:solidFill>
              <a:srgbClr val="232F3E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698480" y="2029968"/>
            <a:ext cx="0" cy="301752"/>
          </a:xfrm>
          <a:prstGeom prst="line">
            <a:avLst/>
          </a:prstGeom>
          <a:noFill/>
          <a:ln w="19050">
            <a:solidFill>
              <a:srgbClr val="3B7EA1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004304" y="2029968"/>
            <a:ext cx="3694176" cy="0"/>
          </a:xfrm>
          <a:prstGeom prst="line">
            <a:avLst/>
          </a:prstGeom>
          <a:noFill/>
          <a:ln w="19050">
            <a:solidFill>
              <a:srgbClr val="3B7EA1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7004304" y="2029968"/>
            <a:ext cx="0" cy="292608"/>
          </a:xfrm>
          <a:prstGeom prst="line">
            <a:avLst/>
          </a:prstGeom>
          <a:noFill/>
          <a:ln w="19050">
            <a:solidFill>
              <a:srgbClr val="3B7EA1"/>
            </a:solidFill>
            <a:prstDash val="dash"/>
            <a:tailEnd type="triangle"/>
          </a:ln>
        </p:spPr>
      </p:sp>
      <p:sp>
        <p:nvSpPr>
          <p:cNvPr id="28" name="Text 26"/>
          <p:cNvSpPr txBox="1"/>
          <p:nvPr/>
        </p:nvSpPr>
        <p:spPr>
          <a:xfrm>
            <a:off x="6318504" y="1792224"/>
            <a:ext cx="36941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3B7E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histórico de patrones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227064" y="41605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227064" y="41605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· métricas · logs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921240" y="4160520"/>
            <a:ext cx="1554480" cy="960120"/>
          </a:xfrm>
          <a:prstGeom prst="roundRect">
            <a:avLst>
              <a:gd name="adj" fmla="val 7619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921240" y="4160520"/>
            <a:ext cx="15544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TI Urbani</a:t>
            </a:r>
            <a:endParaRPr lang="en-US" sz="115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devs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0698480" y="3291840"/>
            <a:ext cx="0" cy="475488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004304" y="3767328"/>
            <a:ext cx="3694176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04304" y="3767328"/>
            <a:ext cx="0" cy="393192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7891272" y="340156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781544" y="4640580"/>
            <a:ext cx="2139696" cy="0"/>
          </a:xfrm>
          <a:prstGeom prst="line">
            <a:avLst/>
          </a:prstGeom>
          <a:noFill/>
          <a:ln w="25400">
            <a:solidFill>
              <a:srgbClr val="2E7D5B"/>
            </a:solidFill>
            <a:prstDash val="solid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7781544" y="4366260"/>
            <a:ext cx="2139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alertas y recomendaciones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310128" y="3291840"/>
            <a:ext cx="0" cy="1389888"/>
          </a:xfrm>
          <a:prstGeom prst="line">
            <a:avLst/>
          </a:prstGeom>
          <a:noFill/>
          <a:ln w="15875">
            <a:solidFill>
              <a:srgbClr val="6B7785"/>
            </a:solidFill>
            <a:prstDash val="sysDot"/>
          </a:ln>
        </p:spPr>
      </p:sp>
      <p:sp>
        <p:nvSpPr>
          <p:cNvPr id="40" name="Shape 38"/>
          <p:cNvSpPr/>
          <p:nvPr/>
        </p:nvSpPr>
        <p:spPr>
          <a:xfrm>
            <a:off x="3310128" y="4681728"/>
            <a:ext cx="2551176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ysDot"/>
          </a:ln>
        </p:spPr>
      </p:sp>
      <p:sp>
        <p:nvSpPr>
          <p:cNvPr id="41" name="Shape 39"/>
          <p:cNvSpPr/>
          <p:nvPr/>
        </p:nvSpPr>
        <p:spPr>
          <a:xfrm>
            <a:off x="5861304" y="4681728"/>
            <a:ext cx="365760" cy="0"/>
          </a:xfrm>
          <a:prstGeom prst="line">
            <a:avLst/>
          </a:prstGeom>
          <a:noFill/>
          <a:ln w="15875">
            <a:solidFill>
              <a:srgbClr val="6B7785"/>
            </a:solidFill>
            <a:prstDash val="sysDot"/>
            <a:tailEnd type="triangle"/>
          </a:ln>
        </p:spPr>
      </p:sp>
      <p:sp>
        <p:nvSpPr>
          <p:cNvPr id="42" name="Text 40"/>
          <p:cNvSpPr txBox="1"/>
          <p:nvPr/>
        </p:nvSpPr>
        <p:spPr>
          <a:xfrm>
            <a:off x="2715768" y="471830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logs crudos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57200" y="5623560"/>
            <a:ext cx="11292840" cy="658368"/>
          </a:xfrm>
          <a:prstGeom prst="roundRect">
            <a:avLst>
              <a:gd name="adj" fmla="val 8333"/>
            </a:avLst>
          </a:prstGeom>
          <a:solidFill>
            <a:srgbClr val="F7F3EC"/>
          </a:solidFill>
          <a:ln w="12700">
            <a:solidFill>
              <a:srgbClr val="E4D9C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85800" y="562356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y gobernanza transversal:  </a:t>
            </a:r>
            <a:pPr indent="0" marL="0">
              <a:buNone/>
            </a:pPr>
            <a:r>
              <a:rPr lang="en-US" sz="1050" dirty="0">
                <a:solidFill>
                  <a:srgbClr val="4A4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(least privilege, solo lectura sobre CloudWatch)   ·   KMS (cifrado en reposo de DynamoDB)   ·   CloudTrail (auditoría de invocaciones a Bedrock)   ·   Bedrock Guardrails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funciona, paso a paso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log crudo a una alerta accionable en el tablero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81912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6550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Emisión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23134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apps en Elastic Beanstalk escriben logs y métricas a CloudWatch de forma continua.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43400" y="13258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581912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99432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5303520" y="16550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Recolección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99432" y="23134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dispara la Lambda Collector cada N minutos, que consulta sólo la ventana reciente.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38160" y="132588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581912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94192" y="15819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098280" y="165506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Análisis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94192" y="231343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evalúa la ventana contra el histórico de patrones y determina si hay anomalía.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913632"/>
            <a:ext cx="566928" cy="566928"/>
          </a:xfrm>
          <a:prstGeom prst="ellipse">
            <a:avLst/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04672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39867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Redacción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04672" y="4645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un hallazgo, genera la alerta y los pasos de troubleshooting sugeridos.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43400" y="365760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913632"/>
            <a:ext cx="566928" cy="566928"/>
          </a:xfrm>
          <a:prstGeom prst="ellipse">
            <a:avLst/>
          </a:prstGeom>
          <a:solidFill>
            <a:srgbClr val="3B7EA1"/>
          </a:solidFill>
          <a:ln w="12700">
            <a:solidFill>
              <a:srgbClr val="3B7EA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99432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5303520" y="39867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99432" y="4645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Lambda Alert Writer guarda alerta y recomendación en DynamoDB.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138160" y="3657600"/>
            <a:ext cx="3520440" cy="2057400"/>
          </a:xfrm>
          <a:prstGeom prst="roundRect">
            <a:avLst>
              <a:gd name="adj" fmla="val 2667"/>
            </a:avLst>
          </a:prstGeom>
          <a:solidFill>
            <a:srgbClr val="FBFCFD"/>
          </a:solidFill>
          <a:ln w="12700">
            <a:solidFill>
              <a:srgbClr val="DDE5E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913632"/>
            <a:ext cx="566928" cy="566928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394192" y="3913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9098280" y="3986784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Consulta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94192" y="4645152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57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ve la alerta y su recomendación en el dashboard, junto a métricas y logs.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Servicios AWS por capa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0467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 cada pieza y por qué está en el diseño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27048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27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399032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 y Metrics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399032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en uso por Urbani hoy. No requiere instrumentar las aplicaciones de nuevo: el MVP se conecta a lo que ya existe.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514600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5A6B7D"/>
          </a:solidFill>
          <a:ln w="12700">
            <a:solidFill>
              <a:srgbClr val="5A6B7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514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Orquestación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2386584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EventBridge Scheduler + Lambda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0" y="2386584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frecuencia de ejecución es la palanca directa sobre el costo. Arrancar en 5 min y ajustar según lo observado.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300984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02152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FF9900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021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377440" y="3374136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+ Guardrails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374136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la anomalía y redacta la recomendación. Los Guardrails acotan la respuesta del modelo.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288536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489704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3B7EA1"/>
          </a:solidFill>
          <a:ln w="12700">
            <a:solidFill>
              <a:srgbClr val="3B7EA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48970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4361688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669280" y="4361688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cada alerta y alimenta el contexto histórico. Pieza de camino crítico: sin ella no hay alerta visible.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5276088"/>
            <a:ext cx="11064240" cy="868680"/>
          </a:xfrm>
          <a:prstGeom prst="roundRect">
            <a:avLst>
              <a:gd name="adj" fmla="val 5263"/>
            </a:avLst>
          </a:prstGeom>
          <a:solidFill>
            <a:srgbClr val="F7FAFC"/>
          </a:solidFill>
          <a:ln w="12700">
            <a:solidFill>
              <a:srgbClr val="E1E8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477256"/>
            <a:ext cx="1417320" cy="457200"/>
          </a:xfrm>
          <a:prstGeom prst="roundRect">
            <a:avLst>
              <a:gd name="adj" fmla="val 14000"/>
            </a:avLst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47725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2377440" y="5349240"/>
            <a:ext cx="3154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(métricas, logs y alertas)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53492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5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consulta. Las alertas no se envían a Slack, Teams ni correo.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Decisiones de diseño a validar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abiertos que conviene cerrar antes de los 2 días de prototipado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Frecuencia de consulta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11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ejecución consume tokens de Bedrock. Es la variable que más mueve el costo, con antecedentes de picos de 5,000–6,000 USD.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22960" y="2944368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3E5166"/>
          </a:solidFill>
          <a:ln w="12700">
            <a:solidFill>
              <a:srgbClr val="3E51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443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Arrancar en 5 min y medir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37960" y="15727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Herramienta de dashboard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0116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Grafana se levanta rápido y luce bien en la demo, pero cobra por usuario. Un dashboard nativo de CloudWatch no tiene ese costo.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944368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3E5166"/>
          </a:solidFill>
          <a:ln w="12700">
            <a:solidFill>
              <a:srgbClr val="3E51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37960" y="294436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antes del día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48640" y="370332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3904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 DynamoDB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343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quedar las alertas dentro del tablero, la tabla dejó de ser opcional y entró al camino crítico del MVP.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276088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3E5166"/>
          </a:solidFill>
          <a:ln w="12700">
            <a:solidFill>
              <a:srgbClr val="3E516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52760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Confirmada como obligatoria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370332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2E3B4E"/>
          </a:solidFill>
          <a:ln w="12700">
            <a:solidFill>
              <a:srgbClr val="3D4C6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37960" y="39044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 y accesos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43434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roles IAM y el acceso a la cuenta sandbox deben estar listos antes de iniciar, o se pierde tiempo del día 1.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37960" y="5276088"/>
            <a:ext cx="2651760" cy="329184"/>
          </a:xfrm>
          <a:prstGeom prst="roundRect">
            <a:avLst>
              <a:gd name="adj" fmla="val 16667"/>
            </a:avLst>
          </a:prstGeom>
          <a:solidFill>
            <a:srgbClr val="3E5166"/>
          </a:solidFill>
          <a:ln w="12700">
            <a:solidFill>
              <a:srgbClr val="3E5166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37960" y="527608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Pre-requisito bloqueante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Propuesta - Observabilidad Proactiva Urbani</dc:title>
  <dc:subject>PptxGenJS Presentation</dc:subject>
  <dc:creator>OneData</dc:creator>
  <cp:lastModifiedBy>OneData</cp:lastModifiedBy>
  <cp:revision>1</cp:revision>
  <dcterms:created xsi:type="dcterms:W3CDTF">2026-09-15T17:36:51Z</dcterms:created>
  <dcterms:modified xsi:type="dcterms:W3CDTF">2026-09-15T17:36:51Z</dcterms:modified>
</cp:coreProperties>
</file>