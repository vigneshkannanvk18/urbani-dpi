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9900"/>
                </a:solidFill>
                <a:latin typeface="Arial"/>
              </a:defRPr>
            </a:pPr>
            <a:r>
              <a:t>URBANI</a:t>
            </a:r>
          </a:p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Proactive Observability &amp; AI Troubleshooting Assistant</a:t>
            </a:r>
          </a:p>
          <a:p>
            <a:pPr>
              <a:spcAft>
                <a:spcPts val="2800"/>
              </a:spcAft>
              <a:defRPr sz="1500">
                <a:solidFill>
                  <a:srgbClr val="C8D7E6"/>
                </a:solidFill>
                <a:latin typeface="Arial"/>
              </a:defRPr>
            </a:pPr>
            <a:r>
              <a:t>AWS Intensive Prototyping Days (DPI) — 2-Day MVP Architecture &amp; Execution Deck</a:t>
            </a:r>
          </a:p>
          <a:p>
            <a:pPr>
              <a:defRPr sz="1100">
                <a:solidFill>
                  <a:srgbClr val="6E7887"/>
                </a:solidFill>
                <a:latin typeface="Arial"/>
              </a:defRPr>
            </a:pPr>
            <a:r>
              <a:t>Event Dates: September 28–29, 2026   |   Location: AWS Prototyping Sandbox</a:t>
            </a:r>
            <a:br/>
            <a:r>
              <a:t>Authors: OneData AWS Architecture Team   |   Urbani Leads: Gio &amp; Javier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Business Problem &amp; 2-Day DPI Prototyping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2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Current Business Challenge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Manual Monitoring Toil: </a:t>
            </a:r>
            <a:r>
              <a:rPr sz="1050">
                <a:solidFill>
                  <a:srgbClr val="232323"/>
                </a:solidFill>
                <a:latin typeface="Arial"/>
              </a:rPr>
              <a:t>Engineering team has relied on manual CloudWatch queries for &gt;2 years.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Dual Operational Load: </a:t>
            </a:r>
            <a:r>
              <a:rPr sz="1050">
                <a:solidFill>
                  <a:srgbClr val="232323"/>
                </a:solidFill>
                <a:latin typeface="Arial"/>
              </a:rPr>
              <a:t>Leads Javier &amp; Gio handle operations alongside new feature releases under tight deadlines.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High Team Turnover: </a:t>
            </a:r>
            <a:r>
              <a:rPr sz="1050">
                <a:solidFill>
                  <a:srgbClr val="232323"/>
                </a:solidFill>
                <a:latin typeface="Arial"/>
              </a:rPr>
              <a:t>Persistent turnover over 2 years erodes operational context &amp; runbook continuity.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Cost Spike Risk: </a:t>
            </a:r>
            <a:r>
              <a:rPr sz="1050">
                <a:solidFill>
                  <a:srgbClr val="232323"/>
                </a:solidFill>
                <a:latin typeface="Arial"/>
              </a:rPr>
              <a:t>Past unmonitored AI model usage caused cost spikes ($5,000–$6,000 USD). Token controls are mandatory.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2-Day DPI MVP Goal &amp; DoD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1. Ingestion DoD: </a:t>
            </a:r>
            <a:r>
              <a:rPr sz="1050">
                <a:solidFill>
                  <a:srgbClr val="232323"/>
                </a:solidFill>
                <a:latin typeface="Arial"/>
              </a:rPr>
              <a:t>Ingest logs/metrics from Elastic Beanstalk into Amazon CloudWatch.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2. AI Diagnosis DoD: </a:t>
            </a:r>
            <a:r>
              <a:rPr sz="1050">
                <a:solidFill>
                  <a:srgbClr val="232323"/>
                </a:solidFill>
                <a:latin typeface="Arial"/>
              </a:rPr>
              <a:t>Detect simulated anomaly and generate Bedrock troubleshooting recommendation.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3. Persistence DoD: </a:t>
            </a:r>
            <a:r>
              <a:rPr sz="1050">
                <a:solidFill>
                  <a:srgbClr val="232323"/>
                </a:solidFill>
                <a:latin typeface="Arial"/>
              </a:rPr>
              <a:t>Persist structured alert &amp; evidence recommendation into Amazon DynamoDB.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4. Dashboard DoD: </a:t>
            </a:r>
            <a:r>
              <a:rPr sz="1050">
                <a:solidFill>
                  <a:srgbClr val="232323"/>
                </a:solidFill>
                <a:latin typeface="Arial"/>
              </a:rPr>
              <a:t>Render alerts, evidence logs, and metrics on a single unified dashboard.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Explicit Boundary: </a:t>
            </a:r>
            <a:r>
              <a:rPr sz="1050">
                <a:solidFill>
                  <a:srgbClr val="232323"/>
                </a:solidFill>
                <a:latin typeface="Arial"/>
              </a:rPr>
              <a:t>Strict READ-ONLY MVP. Automated production remediation is OUT OF SCOPE for DPI.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Current State: Reactive &amp; Manual Monitoring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3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Urbani App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Elastic Beanstalk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057400"/>
            <a:ext cx="457200" cy="27432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011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Amazon CloudWatch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Logs &amp; Raw Metrics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2057400"/>
            <a:ext cx="457200" cy="274320"/>
          </a:xfrm>
          <a:prstGeom prst="rightArrow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2377440" cy="1097280"/>
          </a:xfrm>
          <a:prstGeom prst="roundRect">
            <a:avLst/>
          </a:prstGeom>
          <a:solidFill>
            <a:srgbClr val="FDEDEC"/>
          </a:solidFill>
          <a:ln w="1905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Manual Search Bottleneck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Engineer queries CW console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503920" y="2057400"/>
            <a:ext cx="457200" cy="274320"/>
          </a:xfrm>
          <a:prstGeom prst="rightArrow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52560" y="1645920"/>
            <a:ext cx="23774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Delayed Resolution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Prolonged Uptime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728655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Current State Pain Points &amp; Operational Impact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Reactive Detection: </a:t>
            </a:r>
            <a:r>
              <a:rPr sz="1050">
                <a:solidFill>
                  <a:srgbClr val="232323"/>
                </a:solidFill>
                <a:latin typeface="Arial"/>
              </a:rPr>
              <a:t>Incidents discovered only after end-user complaints or system outages.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Severe Diagnostic Delay: </a:t>
            </a:r>
            <a:r>
              <a:rPr sz="1050">
                <a:solidFill>
                  <a:srgbClr val="232323"/>
                </a:solidFill>
                <a:latin typeface="Arial"/>
              </a:rPr>
              <a:t>Engineers waste hours searching decoupled log groups without historical guidance.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Context Erosion: </a:t>
            </a:r>
            <a:r>
              <a:rPr sz="1050">
                <a:solidFill>
                  <a:srgbClr val="232323"/>
                </a:solidFill>
                <a:latin typeface="Arial"/>
              </a:rPr>
              <a:t>High turnover leads to repeating investigation steps for known historical failure modes.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Sprint Interruptions: </a:t>
            </a:r>
            <a:r>
              <a:rPr sz="1050">
                <a:solidFill>
                  <a:srgbClr val="232323"/>
                </a:solidFill>
                <a:latin typeface="Arial"/>
              </a:rPr>
              <a:t>Emergency production fixes constantly disrupt planned development roadmaps.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Target State Architecture — 2-Day DPI Prototyping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4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6459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Urbani App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Elastic Beanstalk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173736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88920" y="1371600"/>
            <a:ext cx="16459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CloudWatch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Logs + Metrics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80560" y="173736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18288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EventBridge (5m)</a:t>
            </a:r>
            <a:br/>
            <a:r>
              <a:t>+ Lambda Collector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Query &amp; Pre-filter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20840" y="173736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600" y="1371600"/>
            <a:ext cx="192024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Amazon Bedrock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Claude + Guardrails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52560" y="1737360"/>
            <a:ext cx="320040" cy="228600"/>
          </a:xfrm>
          <a:prstGeom prst="right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2011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3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Lambda Alert Writer</a:t>
            </a:r>
            <a:br/>
            <a:r>
              <a:t>+ DynamoDB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UrbaniAlerts Table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149840" y="2468880"/>
            <a:ext cx="457200" cy="365760"/>
          </a:xfrm>
          <a:prstGeom prst="downArrow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2971800"/>
            <a:ext cx="2468880" cy="100584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defRPr sz="1100" b="1">
                <a:solidFill>
                  <a:srgbClr val="232F3E"/>
                </a:solidFill>
                <a:latin typeface="Arial"/>
              </a:defRPr>
            </a:pPr>
            <a:r>
              <a:t>Central Dashboard</a:t>
            </a:r>
          </a:p>
          <a:p>
            <a:pPr algn="ctr">
              <a:spcBef>
                <a:spcPts val="200"/>
              </a:spcBef>
              <a:defRPr sz="850">
                <a:solidFill>
                  <a:srgbClr val="6E7887"/>
                </a:solidFill>
                <a:latin typeface="Arial"/>
              </a:defRPr>
            </a:pPr>
            <a:r>
              <a:t>Grafana / CloudWatch Dash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7955279" cy="2697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End-to-End Architectural Pipeline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1. Ingestion: </a:t>
            </a:r>
            <a:r>
              <a:rPr sz="1050">
                <a:solidFill>
                  <a:srgbClr val="232323"/>
                </a:solidFill>
                <a:latin typeface="Arial"/>
              </a:rPr>
              <a:t>Apps write stdout/stderr &amp; system metrics to CloudWatch.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2. Orchestration: </a:t>
            </a:r>
            <a:r>
              <a:rPr sz="1050">
                <a:solidFill>
                  <a:srgbClr val="232323"/>
                </a:solidFill>
                <a:latin typeface="Arial"/>
              </a:rPr>
              <a:t>EventBridge Scheduler triggers Lambda Collector every 5 minutes.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3. Pre-processing: </a:t>
            </a:r>
            <a:r>
              <a:rPr sz="1050">
                <a:solidFill>
                  <a:srgbClr val="232323"/>
                </a:solidFill>
                <a:latin typeface="Arial"/>
              </a:rPr>
              <a:t>Lambda fetches last 5-min log window &amp; caps payload to 100 lines.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4. AI Inference: </a:t>
            </a:r>
            <a:r>
              <a:rPr sz="1050">
                <a:solidFill>
                  <a:srgbClr val="232323"/>
                </a:solidFill>
                <a:latin typeface="Arial"/>
              </a:rPr>
              <a:t>Bedrock analyzes telemetry against historical patterns with Guardrails.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5. Persistence: </a:t>
            </a:r>
            <a:r>
              <a:rPr sz="1050">
                <a:solidFill>
                  <a:srgbClr val="232323"/>
                </a:solidFill>
                <a:latin typeface="Arial"/>
              </a:rPr>
              <a:t>Lambda Writer saves structured JSON finding &amp; recommendations to DynamoDB.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6. Visualization: </a:t>
            </a:r>
            <a:r>
              <a:rPr sz="1050">
                <a:solidFill>
                  <a:srgbClr val="232323"/>
                </a:solidFill>
                <a:latin typeface="Arial"/>
              </a:rPr>
              <a:t>Dashboard displays alerts, evidence log lines, metrics &amp; runbook steps.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EBF0F5"/>
          </a:solidFill>
          <a:ln w="127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defRPr sz="1000" b="1">
                <a:solidFill>
                  <a:srgbClr val="232F3E"/>
                </a:solidFill>
                <a:latin typeface="Arial"/>
              </a:defRPr>
            </a:pPr>
            <a:r>
              <a:t>TRANSVERSAL SECURITY, AUDITABILITY &amp; COST GOVERNANCE</a:t>
            </a:r>
          </a:p>
          <a:p>
            <a:pPr algn="ctr">
              <a:spcBef>
                <a:spcPts val="300"/>
              </a:spcBef>
              <a:defRPr sz="900">
                <a:solidFill>
                  <a:srgbClr val="1A2432"/>
                </a:solidFill>
                <a:latin typeface="Arial"/>
              </a:defRPr>
            </a:pPr>
            <a:r>
              <a:t>IAM Least Privilege (Read-only CloudWatch)   |   KMS (Encrypted DynamoDB &amp; Bedrock logs)   |   CloudTrail (Model Audit)   |   AWS Budgets ($50/$100 Alarm)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End-to-End Telemetry &amp; Decision Lifecycle (6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5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1 — Ingestion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50">
                <a:solidFill>
                  <a:srgbClr val="232323"/>
                </a:solidFill>
                <a:latin typeface="Arial"/>
              </a:rPr>
              <a:t>Elastic Beanstalk app streams stdout/stderr logs and 1-min metrics to CloudWatch.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2 — Trigger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50">
                <a:solidFill>
                  <a:srgbClr val="232323"/>
                </a:solidFill>
                <a:latin typeface="Arial"/>
              </a:rPr>
              <a:t>EventBridge Scheduler fires every 5 minutes to invoke Lambda Collector.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3 — Filter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50">
                <a:solidFill>
                  <a:srgbClr val="232323"/>
                </a:solidFill>
                <a:latin typeface="Arial"/>
              </a:rPr>
              <a:t>Lambda queries CloudWatch, extracts 5-min window, and caps payload to 100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4 — AI Analysis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50">
                <a:solidFill>
                  <a:srgbClr val="232323"/>
                </a:solidFill>
                <a:latin typeface="Arial"/>
              </a:rPr>
              <a:t>Amazon Bedrock (Claude 3.5) evaluates telemetry against failure patterns with Guardrails.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79476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5 — Persist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50">
                <a:solidFill>
                  <a:srgbClr val="232323"/>
                </a:solidFill>
                <a:latin typeface="Arial"/>
              </a:rPr>
              <a:t>Lambda Alert Writer validates JSON schema and writes finding record to DynamoDB.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94760"/>
            <a:ext cx="3328416" cy="2194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Step 6 — Display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Description: </a:t>
            </a:r>
            <a:r>
              <a:rPr sz="1050">
                <a:solidFill>
                  <a:srgbClr val="232323"/>
                </a:solidFill>
                <a:latin typeface="Arial"/>
              </a:rPr>
              <a:t>Unified Dashboard renders active alert badge, evidence log lines, and runbook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AI Engine Design, Prompt Contract &amp;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6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Structured JSON Response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32F3E"/>
                </a:solidFill>
                <a:latin typeface="Consolas"/>
              </a:defRPr>
            </a:pPr>
            <a:r>
              <a:t>{</a:t>
            </a:r>
            <a:br/>
            <a:r>
              <a:t>  "alertId": "ALT-20260928-001",</a:t>
            </a:r>
            <a:br/>
            <a:r>
              <a:t>  "timestamp": "2026-09-28T14:05:00Z",</a:t>
            </a:r>
            <a:br/>
            <a:r>
              <a:t>  "service": "urbani-core-api",</a:t>
            </a:r>
            <a:br/>
            <a:r>
              <a:t>  "severity": "HIGH",</a:t>
            </a:r>
            <a:br/>
            <a:r>
              <a:t>  "anomalyType": "DatabaseConnectionTimeout",</a:t>
            </a:r>
            <a:br/>
            <a:r>
              <a:t>  "summary": "DB pool connection timeout.",</a:t>
            </a:r>
            <a:br/>
            <a:r>
              <a:t>  "evidence": [</a:t>
            </a:r>
            <a:br/>
            <a:r>
              <a:t>    "2026-09-28 14:02 ERROR ConnectionPool empty"</a:t>
            </a:r>
            <a:br/>
            <a:r>
              <a:t>  ],</a:t>
            </a:r>
            <a:br/>
            <a:r>
              <a:t>  "probableCause": "Unclosed DB sessions in worker.",</a:t>
            </a:r>
            <a:br/>
            <a:r>
              <a:t>  "recommendedActions": [</a:t>
            </a:r>
            <a:br/>
            <a:r>
              <a:t>    "Check active DB connection metrics",</a:t>
            </a:r>
            <a:br/>
            <a:r>
              <a:t>    "Restart Elastic Beanstalk worker pool"</a:t>
            </a:r>
            <a:br/>
            <a:r>
              <a:t>  ],</a:t>
            </a:r>
            <a:br/>
            <a:r>
              <a:t>  "confidence": 0.92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Responsible AI &amp; Cost Guardrails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Zero Hallucination Rule: </a:t>
            </a:r>
            <a:r>
              <a:rPr sz="1050">
                <a:solidFill>
                  <a:srgbClr val="232323"/>
                </a:solidFill>
                <a:latin typeface="Arial"/>
              </a:rPr>
              <a:t>If log evidence is absent, Bedrock must return 'NO_ANOMALY_DETECTED'.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Action Restriction: </a:t>
            </a:r>
            <a:r>
              <a:rPr sz="1050">
                <a:solidFill>
                  <a:srgbClr val="232323"/>
                </a:solidFill>
                <a:latin typeface="Arial"/>
              </a:rPr>
              <a:t>Model is strictly prohibited from suggesting automated shell scripts or unverified commands.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Bedrock Guardrails: </a:t>
            </a:r>
            <a:r>
              <a:rPr sz="1050">
                <a:solidFill>
                  <a:srgbClr val="232323"/>
                </a:solidFill>
                <a:latin typeface="Arial"/>
              </a:rPr>
              <a:t>Filters out PII, internal credentials, API keys, and internal IPs from prompts.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Strict Token Budgeting: </a:t>
            </a:r>
            <a:r>
              <a:rPr sz="1050">
                <a:solidFill>
                  <a:srgbClr val="232323"/>
                </a:solidFill>
                <a:latin typeface="Arial"/>
              </a:rPr>
              <a:t>Pre-filtering log window to max 100 lines caps token spend to &lt;$2.50 USD/day.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2-Day DPI Workstream Breakdown &amp; Backlog (T01–T14)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7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Day 1 Operational Focus (Sept 28)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T01 — AWS Sandbox &amp; Roles: </a:t>
            </a:r>
            <a:r>
              <a:rPr sz="1050">
                <a:solidFill>
                  <a:srgbClr val="232323"/>
                </a:solidFill>
                <a:latin typeface="Arial"/>
              </a:rPr>
              <a:t>Configure IAM roles &amp; AWS Budgets cost alerts (1.0h).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T02 — Telemetry Ingestion: </a:t>
            </a:r>
            <a:r>
              <a:rPr sz="1050">
                <a:solidFill>
                  <a:srgbClr val="232323"/>
                </a:solidFill>
                <a:latin typeface="Arial"/>
              </a:rPr>
              <a:t>Validate CloudWatch Logs &amp; Metrics on Elastic Beanstalk (1.5h).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T03 — Lambda Collector: </a:t>
            </a:r>
            <a:r>
              <a:rPr sz="1050">
                <a:solidFill>
                  <a:srgbClr val="232323"/>
                </a:solidFill>
                <a:latin typeface="Arial"/>
              </a:rPr>
              <a:t>Build log query &amp; pre-filtering Lambda function (3.0h).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T04 — EventBridge Cron: </a:t>
            </a:r>
            <a:r>
              <a:rPr sz="1050">
                <a:solidFill>
                  <a:srgbClr val="232323"/>
                </a:solidFill>
                <a:latin typeface="Arial"/>
              </a:rPr>
              <a:t>Setup 5-minute periodic trigger rule (1.0h).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T05 — Bedrock Integration: </a:t>
            </a:r>
            <a:r>
              <a:rPr sz="1050">
                <a:solidFill>
                  <a:srgbClr val="232323"/>
                </a:solidFill>
                <a:latin typeface="Arial"/>
              </a:rPr>
              <a:t>Enable model access &amp; build system analysis prompt (2.0h).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T07 &amp; T08 — DynamoDB: </a:t>
            </a:r>
            <a:r>
              <a:rPr sz="1050">
                <a:solidFill>
                  <a:srgbClr val="232323"/>
                </a:solidFill>
                <a:latin typeface="Arial"/>
              </a:rPr>
              <a:t>Provision UrbaniAlerts table &amp; build Lambda Writer (4.5h).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Day 2 Operational Focus (Sept 29)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T09 — Central Dashboard: </a:t>
            </a:r>
            <a:r>
              <a:rPr sz="1050">
                <a:solidFill>
                  <a:srgbClr val="232323"/>
                </a:solidFill>
                <a:latin typeface="Arial"/>
              </a:rPr>
              <a:t>Build Grafana / CW Dashboard with widgets (3.0h).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T06 — Bedrock Guardrails: </a:t>
            </a:r>
            <a:r>
              <a:rPr sz="1050">
                <a:solidFill>
                  <a:srgbClr val="232323"/>
                </a:solidFill>
                <a:latin typeface="Arial"/>
              </a:rPr>
              <a:t>Configure PII filters &amp; responsible AI rules (1.5h).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T10 — Anomaly Simulation: </a:t>
            </a:r>
            <a:r>
              <a:rPr sz="1050">
                <a:solidFill>
                  <a:srgbClr val="232323"/>
                </a:solidFill>
                <a:latin typeface="Arial"/>
              </a:rPr>
              <a:t>Inject failure &amp; validate Bedrock diagnosis flow (2.0h).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T11 &amp; T12 — E2E Validation: </a:t>
            </a:r>
            <a:r>
              <a:rPr sz="1050">
                <a:solidFill>
                  <a:srgbClr val="232323"/>
                </a:solidFill>
                <a:latin typeface="Arial"/>
              </a:rPr>
              <a:t>Audit IAM/security, cost &amp; dry-run demo (2.5h).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T13 &amp; T14 — Presentation: </a:t>
            </a:r>
            <a:r>
              <a:rPr sz="1050">
                <a:solidFill>
                  <a:srgbClr val="232323"/>
                </a:solidFill>
                <a:latin typeface="Arial"/>
              </a:rPr>
              <a:t>Deliver executive demo &amp; document post-DPI roadmap (3.0h).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Controlled Demonstration Scenario (Day 2 Demo Flow)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8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Repeatable End-to-End Failure Injection Walkthrough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1. Failure Injection: </a:t>
            </a:r>
            <a:r>
              <a:rPr sz="1050">
                <a:solidFill>
                  <a:srgbClr val="232323"/>
                </a:solidFill>
                <a:latin typeface="Arial"/>
              </a:rPr>
              <a:t>Inject synthetic DB connection pool exhaustion in target Elastic Beanstalk app.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2. CloudWatch Stream: </a:t>
            </a:r>
            <a:r>
              <a:rPr sz="1050">
                <a:solidFill>
                  <a:srgbClr val="232323"/>
                </a:solidFill>
                <a:latin typeface="Arial"/>
              </a:rPr>
              <a:t>App writes stdout ERROR log lines to CloudWatch Log Group.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3. Scheduled Trigger: </a:t>
            </a:r>
            <a:r>
              <a:rPr sz="1050">
                <a:solidFill>
                  <a:srgbClr val="232323"/>
                </a:solidFill>
                <a:latin typeface="Arial"/>
              </a:rPr>
              <a:t>EventBridge Scheduler fires Lambda Collector on 5-minute schedule.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4. Log Pre-filtering: </a:t>
            </a:r>
            <a:r>
              <a:rPr sz="1050">
                <a:solidFill>
                  <a:srgbClr val="232323"/>
                </a:solidFill>
                <a:latin typeface="Arial"/>
              </a:rPr>
              <a:t>Collector retrieves last 5-min window and extracts 100 relevant log lines.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5. Bedrock Inference: </a:t>
            </a:r>
            <a:r>
              <a:rPr sz="1050">
                <a:solidFill>
                  <a:srgbClr val="232323"/>
                </a:solidFill>
                <a:latin typeface="Arial"/>
              </a:rPr>
              <a:t>Lambda passes payload to Bedrock Claude 3.5 Sonnet with Guardrails active.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6. Structured Diagnosis: </a:t>
            </a:r>
            <a:r>
              <a:rPr sz="1050">
                <a:solidFill>
                  <a:srgbClr val="232323"/>
                </a:solidFill>
                <a:latin typeface="Arial"/>
              </a:rPr>
              <a:t>Bedrock identifies 'DatabaseConnectionTimeout' with 0.92 confidence score.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7. DynamoDB Persist: </a:t>
            </a:r>
            <a:r>
              <a:rPr sz="1050">
                <a:solidFill>
                  <a:srgbClr val="232323"/>
                </a:solidFill>
                <a:latin typeface="Arial"/>
              </a:rPr>
              <a:t>Lambda Alert Writer saves structured JSON alert payload to DynamoDB.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8. Dashboard Display: </a:t>
            </a:r>
            <a:r>
              <a:rPr sz="1050">
                <a:solidFill>
                  <a:srgbClr val="232323"/>
                </a:solidFill>
                <a:latin typeface="Arial"/>
              </a:rPr>
              <a:t>Dashboard renders red alert badge, evidence log snippet &amp; recommended fix.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9. Human Validation: </a:t>
            </a:r>
            <a:r>
              <a:rPr sz="1050">
                <a:solidFill>
                  <a:srgbClr val="232323"/>
                </a:solidFill>
                <a:latin typeface="Arial"/>
              </a:rPr>
              <a:t>Urbani Engineer Javier reviews evidence, accepts recommendation &amp; executes fix.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Design Decisions to Validate &amp; Failure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9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Open Decisions (Confirm Day 1)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Polling Frequency: </a:t>
            </a:r>
            <a:r>
              <a:rPr sz="1050">
                <a:solidFill>
                  <a:srgbClr val="232323"/>
                </a:solidFill>
                <a:latin typeface="Arial"/>
              </a:rPr>
              <a:t>5 minutes (default) vs 10 minutes (token cost trade-off). Decision by Day 1 09:30 AM.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Dashboard Technology: </a:t>
            </a:r>
            <a:r>
              <a:rPr sz="1050">
                <a:solidFill>
                  <a:srgbClr val="232323"/>
                </a:solidFill>
                <a:latin typeface="Arial"/>
              </a:rPr>
              <a:t>Managed Grafana (user fee) vs CloudWatch Dashboard (native free). Decision by Day 1 10:00 AM.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Foundation Model: </a:t>
            </a:r>
            <a:r>
              <a:rPr sz="1050">
                <a:solidFill>
                  <a:srgbClr val="232323"/>
                </a:solidFill>
                <a:latin typeface="Arial"/>
              </a:rPr>
              <a:t>Claude 3.5 Sonnet (higher reasoning) vs Amazon Nova (faster speed). Decision by Day 1 11:00 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Failure Resilience Matrix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CW Query Timeout: </a:t>
            </a:r>
            <a:r>
              <a:rPr sz="1050">
                <a:solidFill>
                  <a:srgbClr val="232323"/>
                </a:solidFill>
                <a:latin typeface="Arial"/>
              </a:rPr>
              <a:t>Lambda retries query with 50% window size.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Bedrock Throttling: </a:t>
            </a:r>
            <a:r>
              <a:rPr sz="1050">
                <a:solidFill>
                  <a:srgbClr val="232323"/>
                </a:solidFill>
                <a:latin typeface="Arial"/>
              </a:rPr>
              <a:t>Exponential backoff in Lambda Boto3 SDK.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DynamoDB Write Fail: </a:t>
            </a:r>
            <a:r>
              <a:rPr sz="1050">
                <a:solidFill>
                  <a:srgbClr val="232323"/>
                </a:solidFill>
                <a:latin typeface="Arial"/>
              </a:rPr>
              <a:t>Dead-letter queue (SQS) reprocesses payload.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Guardrail Block: </a:t>
            </a:r>
            <a:r>
              <a:rPr sz="1050">
                <a:solidFill>
                  <a:srgbClr val="232323"/>
                </a:solidFill>
                <a:latin typeface="Arial"/>
              </a:rPr>
              <a:t>Log security audit event &amp; drop malformed output.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Empty Log Window: </a:t>
            </a:r>
            <a:r>
              <a:rPr sz="1050">
                <a:solidFill>
                  <a:srgbClr val="232323"/>
                </a:solidFill>
                <a:latin typeface="Arial"/>
              </a:rPr>
              <a:t>Zero cost incurred; skip Bedrock model invocation.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9900"/>
                </a:solidFill>
                <a:latin typeface="Arial"/>
              </a:defRPr>
            </a:pPr>
            <a:r>
              <a:t>URBANI 2-DAY DPI MVP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32F3E"/>
                </a:solidFill>
                <a:latin typeface="Arial"/>
              </a:defRPr>
            </a:pPr>
            <a:r>
              <a:t>Evaluation Criteria &amp; Phased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6E7887"/>
                </a:solidFill>
                <a:latin typeface="Arial"/>
              </a:defRPr>
            </a:pPr>
            <a:r>
              <a:t>AWS Intensive Prototyping Days (DPI) | Urbani Proactive Observability | Slide 10 of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DPI MVP Success Evaluation Rubric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4 DoD Criteria Met: </a:t>
            </a:r>
            <a:r>
              <a:rPr sz="1050">
                <a:solidFill>
                  <a:srgbClr val="232323"/>
                </a:solidFill>
                <a:latin typeface="Arial"/>
              </a:rPr>
              <a:t>Ingestion, AI Diagnosis, Persistence, and Dashboard rendering fully validated.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Detection Accuracy: </a:t>
            </a:r>
            <a:r>
              <a:rPr sz="1050">
                <a:solidFill>
                  <a:srgbClr val="232323"/>
                </a:solidFill>
                <a:latin typeface="Arial"/>
              </a:rPr>
              <a:t>Correctly identifies root cause of simulated failure scenario.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Evidence Grounding: </a:t>
            </a:r>
            <a:r>
              <a:rPr sz="1050">
                <a:solidFill>
                  <a:srgbClr val="232323"/>
                </a:solidFill>
                <a:latin typeface="Arial"/>
              </a:rPr>
              <a:t>100% of generated alerts cite explicit CloudWatch log timestamps.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Performance &amp; Cost: </a:t>
            </a:r>
            <a:r>
              <a:rPr sz="1050">
                <a:solidFill>
                  <a:srgbClr val="232323"/>
                </a:solidFill>
                <a:latin typeface="Arial"/>
              </a:rPr>
              <a:t>End-to-end latency &lt;30 seconds; token cost &lt;$0.02 USD per execution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10728655" cy="2331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spcAft>
                <a:spcPts val="800"/>
              </a:spcAft>
              <a:defRPr sz="1300" b="1">
                <a:solidFill>
                  <a:srgbClr val="232F3E"/>
                </a:solidFill>
                <a:latin typeface="Arial"/>
              </a:defRPr>
            </a:pPr>
            <a:r>
              <a:t>Post-DPI Phased Scaling Roadmap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Phase 1 — DPI MVP (Sept 28–29): </a:t>
            </a:r>
            <a:r>
              <a:rPr sz="1050">
                <a:solidFill>
                  <a:srgbClr val="232323"/>
                </a:solidFill>
                <a:latin typeface="Arial"/>
              </a:rPr>
              <a:t>Read-only functional prototype on Elastic Beanstalk.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Phase 2 — Hardening (Month 1): </a:t>
            </a:r>
            <a:r>
              <a:rPr sz="1050">
                <a:solidFill>
                  <a:srgbClr val="232323"/>
                </a:solidFill>
                <a:latin typeface="Arial"/>
              </a:rPr>
              <a:t>AWS CDK deployment, IAM Identity Center (SSO), PrivateLink VPC Endpoints.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Phase 3 — Enterprise (Months 2–3): </a:t>
            </a:r>
            <a:r>
              <a:rPr sz="1050">
                <a:solidFill>
                  <a:srgbClr val="232323"/>
                </a:solidFill>
                <a:latin typeface="Arial"/>
              </a:rPr>
              <a:t>Extend ingestion to all Urbani microservices &amp; database telemetry.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A2432"/>
                </a:solidFill>
                <a:latin typeface="Arial"/>
              </a:rPr>
              <a:t>• Phase 4 — Remediation (Months 4+): </a:t>
            </a:r>
            <a:r>
              <a:rPr sz="1050">
                <a:solidFill>
                  <a:srgbClr val="232323"/>
                </a:solidFill>
                <a:latin typeface="Arial"/>
              </a:rPr>
              <a:t>Human-in-the-Loop automated remediation triggers (e.g., worker restart).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