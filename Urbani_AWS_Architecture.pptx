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9900"/>
                </a:solidFill>
                <a:latin typeface="Arial"/>
              </a:defRPr>
            </a:pPr>
            <a:r>
              <a:t>URBANI</a:t>
            </a:r>
          </a:p>
          <a:p>
            <a:pPr>
              <a:spcAft>
                <a:spcPts val="120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Proactive Observability &amp; AI Troubleshooting Assistant</a:t>
            </a:r>
          </a:p>
          <a:p>
            <a:pPr>
              <a:spcAft>
                <a:spcPts val="2800"/>
              </a:spcAft>
              <a:defRPr sz="1500">
                <a:solidFill>
                  <a:srgbClr val="C8D7E6"/>
                </a:solidFill>
                <a:latin typeface="Arial"/>
              </a:defRPr>
            </a:pPr>
            <a:r>
              <a:t>AWS Intensive Prototyping Days (DPI) — 2-Day MVP Architecture &amp; Execution Deck</a:t>
            </a:r>
          </a:p>
          <a:p>
            <a:pPr>
              <a:defRPr sz="1100">
                <a:solidFill>
                  <a:srgbClr val="6E7887"/>
                </a:solidFill>
                <a:latin typeface="Arial"/>
              </a:defRPr>
            </a:pPr>
            <a:r>
              <a:t>Event Dates: September 28–29, 2026   |   Location: AWS Prototyping Sandbox</a:t>
            </a:r>
            <a:br/>
            <a:r>
              <a:t>Authors: OneData AWS Architecture Team   |   Urbani Leads: Gio &amp; Javier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9900"/>
                </a:solidFill>
                <a:latin typeface="Arial"/>
              </a:defRPr>
            </a:pPr>
            <a:r>
              <a:t>URBANI 2-DAY DPI MVP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32F3E"/>
                </a:solidFill>
                <a:latin typeface="Arial"/>
              </a:defRPr>
            </a:pPr>
            <a:r>
              <a:t>Business Problem &amp; 2-Day DPI Prototyping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E7887"/>
                </a:solidFill>
                <a:latin typeface="Arial"/>
              </a:defRPr>
            </a:pPr>
            <a:r>
              <a:t>AWS Intensive Prototyping Days (DPI) | Urbani Proactive Observability | Slide 2 of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232F3E"/>
                </a:solidFill>
                <a:latin typeface="Arial"/>
              </a:defRPr>
            </a:pPr>
            <a:r>
              <a:t>Current Business Challenge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Manual Monitoring Toil: </a:t>
            </a:r>
            <a:r>
              <a:rPr sz="1000">
                <a:solidFill>
                  <a:srgbClr val="232323"/>
                </a:solidFill>
                <a:latin typeface="Arial"/>
              </a:rPr>
              <a:t>Engineering team has relied on manual CloudWatch queries for &gt;2 years.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Dual Operational Load: </a:t>
            </a:r>
            <a:r>
              <a:rPr sz="1000">
                <a:solidFill>
                  <a:srgbClr val="232323"/>
                </a:solidFill>
                <a:latin typeface="Arial"/>
              </a:rPr>
              <a:t>Leads Javier &amp; Gio handle operations alongside new feature releases under tight deadlines.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High Team Turnover: </a:t>
            </a:r>
            <a:r>
              <a:rPr sz="1000">
                <a:solidFill>
                  <a:srgbClr val="232323"/>
                </a:solidFill>
                <a:latin typeface="Arial"/>
              </a:rPr>
              <a:t>Persistent turnover over 2 years erodes operational context &amp; runbook continuity.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Cost Spike Risk: </a:t>
            </a:r>
            <a:r>
              <a:rPr sz="1000">
                <a:solidFill>
                  <a:srgbClr val="232323"/>
                </a:solidFill>
                <a:latin typeface="Arial"/>
              </a:rPr>
              <a:t>Past unmonitored AI model usage caused cost spikes ($5,000–$6,000 USD). Token controls are mandatory.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232F3E"/>
                </a:solidFill>
                <a:latin typeface="Arial"/>
              </a:defRPr>
            </a:pPr>
            <a:r>
              <a:t>2-Day DPI MVP Goal &amp; DoD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1. Ingestion DoD: </a:t>
            </a:r>
            <a:r>
              <a:rPr sz="1000">
                <a:solidFill>
                  <a:srgbClr val="232323"/>
                </a:solidFill>
                <a:latin typeface="Arial"/>
              </a:rPr>
              <a:t>Ingest logs/metrics from Elastic Beanstalk into Amazon CloudWatch.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2. AI Diagnosis DoD: </a:t>
            </a:r>
            <a:r>
              <a:rPr sz="1000">
                <a:solidFill>
                  <a:srgbClr val="232323"/>
                </a:solidFill>
                <a:latin typeface="Arial"/>
              </a:rPr>
              <a:t>Detect simulated anomaly and generate Bedrock troubleshooting recommendation using Claude 3.5 Sonnet v2.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3. Persistence DoD: </a:t>
            </a:r>
            <a:r>
              <a:rPr sz="1000">
                <a:solidFill>
                  <a:srgbClr val="232323"/>
                </a:solidFill>
                <a:latin typeface="Arial"/>
              </a:rPr>
              <a:t>Persist structured alert &amp; evidence recommendation into Amazon DynamoDB.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4. Dashboard DoD: </a:t>
            </a:r>
            <a:r>
              <a:rPr sz="1000">
                <a:solidFill>
                  <a:srgbClr val="232323"/>
                </a:solidFill>
                <a:latin typeface="Arial"/>
              </a:rPr>
              <a:t>Render alerts, evidence logs, and metrics on a single unified dashboard.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Explicit Boundary: </a:t>
            </a:r>
            <a:r>
              <a:rPr sz="1000">
                <a:solidFill>
                  <a:srgbClr val="232323"/>
                </a:solidFill>
                <a:latin typeface="Arial"/>
              </a:rPr>
              <a:t>Strict READ-ONLY MVP. Automated production remediation is OUT OF SCOPE for DPI.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9900"/>
                </a:solidFill>
                <a:latin typeface="Arial"/>
              </a:defRPr>
            </a:pPr>
            <a:r>
              <a:t>URBANI 2-DAY DPI MVP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32F3E"/>
                </a:solidFill>
                <a:latin typeface="Arial"/>
              </a:defRPr>
            </a:pPr>
            <a:r>
              <a:t>Current State: Reactive &amp; Manual Monitoring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E7887"/>
                </a:solidFill>
                <a:latin typeface="Arial"/>
              </a:defRPr>
            </a:pPr>
            <a:r>
              <a:t>AWS Intensive Prototyping Days (DPI) | Urbani Proactive Observability | Slide 3 of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11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3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050" b="1">
                <a:solidFill>
                  <a:srgbClr val="232F3E"/>
                </a:solidFill>
                <a:latin typeface="Arial"/>
              </a:defRPr>
            </a:pPr>
            <a:r>
              <a:t>Urbani App</a:t>
            </a:r>
          </a:p>
          <a:p>
            <a:pPr algn="ctr">
              <a:spcBef>
                <a:spcPts val="200"/>
              </a:spcBef>
              <a:defRPr sz="800">
                <a:solidFill>
                  <a:srgbClr val="6E7887"/>
                </a:solidFill>
                <a:latin typeface="Arial"/>
              </a:defRPr>
            </a:pPr>
            <a:r>
              <a:t>Elastic Beanstalk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34640" y="2057400"/>
            <a:ext cx="457200" cy="274320"/>
          </a:xfrm>
          <a:prstGeom prst="rightArrow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83280" y="1645920"/>
            <a:ext cx="2011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3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050" b="1">
                <a:solidFill>
                  <a:srgbClr val="232F3E"/>
                </a:solidFill>
                <a:latin typeface="Arial"/>
              </a:defRPr>
            </a:pPr>
            <a:r>
              <a:t>Amazon CloudWatch</a:t>
            </a:r>
          </a:p>
          <a:p>
            <a:pPr algn="ctr">
              <a:spcBef>
                <a:spcPts val="200"/>
              </a:spcBef>
              <a:defRPr sz="800">
                <a:solidFill>
                  <a:srgbClr val="6E7887"/>
                </a:solidFill>
                <a:latin typeface="Arial"/>
              </a:defRPr>
            </a:pPr>
            <a:r>
              <a:t>Logs &amp; Raw Metrics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486400" y="2057400"/>
            <a:ext cx="457200" cy="274320"/>
          </a:xfrm>
          <a:prstGeom prst="rightArrow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35040" y="1645920"/>
            <a:ext cx="2377440" cy="1097280"/>
          </a:xfrm>
          <a:prstGeom prst="roundRect">
            <a:avLst/>
          </a:prstGeom>
          <a:solidFill>
            <a:srgbClr val="FDEDEC"/>
          </a:solidFill>
          <a:ln w="19050">
            <a:solidFill>
              <a:srgbClr val="D95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050" b="1">
                <a:solidFill>
                  <a:srgbClr val="232F3E"/>
                </a:solidFill>
                <a:latin typeface="Arial"/>
              </a:defRPr>
            </a:pPr>
            <a:r>
              <a:t>Manual Search Bottleneck</a:t>
            </a:r>
          </a:p>
          <a:p>
            <a:pPr algn="ctr">
              <a:spcBef>
                <a:spcPts val="200"/>
              </a:spcBef>
              <a:defRPr sz="800">
                <a:solidFill>
                  <a:srgbClr val="6E7887"/>
                </a:solidFill>
                <a:latin typeface="Arial"/>
              </a:defRPr>
            </a:pPr>
            <a:r>
              <a:t>Engineer queries CW console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503920" y="2057400"/>
            <a:ext cx="457200" cy="274320"/>
          </a:xfrm>
          <a:prstGeom prst="rightArrow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052560" y="1645920"/>
            <a:ext cx="237744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050" b="1">
                <a:solidFill>
                  <a:srgbClr val="232F3E"/>
                </a:solidFill>
                <a:latin typeface="Arial"/>
              </a:defRPr>
            </a:pPr>
            <a:r>
              <a:t>Delayed Resolution</a:t>
            </a:r>
          </a:p>
          <a:p>
            <a:pPr algn="ctr">
              <a:spcBef>
                <a:spcPts val="200"/>
              </a:spcBef>
              <a:defRPr sz="800">
                <a:solidFill>
                  <a:srgbClr val="6E7887"/>
                </a:solidFill>
                <a:latin typeface="Arial"/>
              </a:defRPr>
            </a:pPr>
            <a:r>
              <a:t>Prolonged Uptime Loss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10728655" cy="30175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232F3E"/>
                </a:solidFill>
                <a:latin typeface="Arial"/>
              </a:defRPr>
            </a:pPr>
            <a:r>
              <a:t>Current State Pain Points &amp; Operational Impact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Reactive Detection: </a:t>
            </a:r>
            <a:r>
              <a:rPr sz="1000">
                <a:solidFill>
                  <a:srgbClr val="232323"/>
                </a:solidFill>
                <a:latin typeface="Arial"/>
              </a:rPr>
              <a:t>Incidents discovered only after end-user complaints or system outages.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Severe Diagnostic Delay: </a:t>
            </a:r>
            <a:r>
              <a:rPr sz="1000">
                <a:solidFill>
                  <a:srgbClr val="232323"/>
                </a:solidFill>
                <a:latin typeface="Arial"/>
              </a:rPr>
              <a:t>Engineers waste hours searching decoupled log groups without historical guidance.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Context Erosion: </a:t>
            </a:r>
            <a:r>
              <a:rPr sz="1000">
                <a:solidFill>
                  <a:srgbClr val="232323"/>
                </a:solidFill>
                <a:latin typeface="Arial"/>
              </a:rPr>
              <a:t>High turnover leads to repeating investigation steps for known historical failure modes.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Sprint Interruptions: </a:t>
            </a:r>
            <a:r>
              <a:rPr sz="1000">
                <a:solidFill>
                  <a:srgbClr val="232323"/>
                </a:solidFill>
                <a:latin typeface="Arial"/>
              </a:rPr>
              <a:t>Emergency production fixes constantly disrupt planned development roadmaps.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9900"/>
                </a:solidFill>
                <a:latin typeface="Arial"/>
              </a:defRPr>
            </a:pPr>
            <a:r>
              <a:t>URBANI 2-DAY DPI MVP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32F3E"/>
                </a:solidFill>
                <a:latin typeface="Arial"/>
              </a:defRPr>
            </a:pPr>
            <a:r>
              <a:t>Target State Architecture — 2-Day DPI Prototyping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E7887"/>
                </a:solidFill>
                <a:latin typeface="Arial"/>
              </a:defRPr>
            </a:pPr>
            <a:r>
              <a:t>AWS Intensive Prototyping Days (DPI) | Urbani Proactive Observability | Slide 4 of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64592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3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050" b="1">
                <a:solidFill>
                  <a:srgbClr val="232F3E"/>
                </a:solidFill>
                <a:latin typeface="Arial"/>
              </a:defRPr>
            </a:pPr>
            <a:r>
              <a:t>Urbani App</a:t>
            </a:r>
          </a:p>
          <a:p>
            <a:pPr algn="ctr">
              <a:spcBef>
                <a:spcPts val="200"/>
              </a:spcBef>
              <a:defRPr sz="800">
                <a:solidFill>
                  <a:srgbClr val="6E7887"/>
                </a:solidFill>
                <a:latin typeface="Arial"/>
              </a:defRPr>
            </a:pPr>
            <a:r>
              <a:t>Elastic Beanstalk</a:t>
            </a:r>
            <a:br/>
            <a:r>
              <a:t>/aws/elasticbeanstalk/...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23160" y="1783080"/>
            <a:ext cx="320040" cy="228600"/>
          </a:xfrm>
          <a:prstGeom prst="rightArrow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88920" y="1325880"/>
            <a:ext cx="164592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3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050" b="1">
                <a:solidFill>
                  <a:srgbClr val="232F3E"/>
                </a:solidFill>
                <a:latin typeface="Arial"/>
              </a:defRPr>
            </a:pPr>
            <a:r>
              <a:t>CloudWatch</a:t>
            </a:r>
          </a:p>
          <a:p>
            <a:pPr algn="ctr">
              <a:spcBef>
                <a:spcPts val="200"/>
              </a:spcBef>
              <a:defRPr sz="800">
                <a:solidFill>
                  <a:srgbClr val="6E7887"/>
                </a:solidFill>
                <a:latin typeface="Arial"/>
              </a:defRPr>
            </a:pPr>
            <a:r>
              <a:t>Logs &amp; Metrics</a:t>
            </a:r>
            <a:br/>
            <a:r>
              <a:t>CPU, Memory, 5xx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480560" y="1783080"/>
            <a:ext cx="320040" cy="228600"/>
          </a:xfrm>
          <a:prstGeom prst="rightArrow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846320" y="1325880"/>
            <a:ext cx="18288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3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050" b="1">
                <a:solidFill>
                  <a:srgbClr val="232F3E"/>
                </a:solidFill>
                <a:latin typeface="Arial"/>
              </a:defRPr>
            </a:pPr>
            <a:r>
              <a:t>EventBridge (5m)</a:t>
            </a:r>
            <a:br/>
            <a:r>
              <a:t>+ Collector Lambda</a:t>
            </a:r>
          </a:p>
          <a:p>
            <a:pPr algn="ctr">
              <a:spcBef>
                <a:spcPts val="200"/>
              </a:spcBef>
              <a:defRPr sz="800">
                <a:solidFill>
                  <a:srgbClr val="6E7887"/>
                </a:solidFill>
                <a:latin typeface="Arial"/>
              </a:defRPr>
            </a:pPr>
            <a:r>
              <a:t>UrbaniCollectorFn</a:t>
            </a:r>
            <a:br/>
            <a:r>
              <a:t>(IAM Read-Only)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720840" y="1783080"/>
            <a:ext cx="320040" cy="228600"/>
          </a:xfrm>
          <a:prstGeom prst="rightArrow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86600" y="1325880"/>
            <a:ext cx="2103120" cy="1143000"/>
          </a:xfrm>
          <a:prstGeom prst="roundRect">
            <a:avLst/>
          </a:prstGeom>
          <a:solidFill>
            <a:srgbClr val="FFF8EB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050" b="1">
                <a:solidFill>
                  <a:srgbClr val="232F3E"/>
                </a:solidFill>
                <a:latin typeface="Arial"/>
              </a:defRPr>
            </a:pPr>
            <a:r>
              <a:t>Amazon Bedrock</a:t>
            </a:r>
          </a:p>
          <a:p>
            <a:pPr algn="ctr">
              <a:spcBef>
                <a:spcPts val="200"/>
              </a:spcBef>
              <a:defRPr sz="800">
                <a:solidFill>
                  <a:srgbClr val="6E7887"/>
                </a:solidFill>
                <a:latin typeface="Arial"/>
              </a:defRPr>
            </a:pPr>
            <a:r>
              <a:t>Claude 3.5 Sonnet v2</a:t>
            </a:r>
            <a:br/>
            <a:r>
              <a:t>anthropic.claude-3-5-sonnet-...</a:t>
            </a:r>
            <a:br/>
            <a:r>
              <a:t>+ Bedrock Guardrails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235440" y="1783080"/>
            <a:ext cx="320040" cy="228600"/>
          </a:xfrm>
          <a:prstGeom prst="rightArrow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1200" y="1325880"/>
            <a:ext cx="18288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3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050" b="1">
                <a:solidFill>
                  <a:srgbClr val="232F3E"/>
                </a:solidFill>
                <a:latin typeface="Arial"/>
              </a:defRPr>
            </a:pPr>
            <a:r>
              <a:t>Alert Writer Lambda</a:t>
            </a:r>
            <a:br/>
            <a:r>
              <a:t>+ DynamoDB</a:t>
            </a:r>
          </a:p>
          <a:p>
            <a:pPr algn="ctr">
              <a:spcBef>
                <a:spcPts val="200"/>
              </a:spcBef>
              <a:defRPr sz="800">
                <a:solidFill>
                  <a:srgbClr val="6E7887"/>
                </a:solidFill>
                <a:latin typeface="Arial"/>
              </a:defRPr>
            </a:pPr>
            <a:r>
              <a:t>UrbaniAlertWriterFn</a:t>
            </a:r>
            <a:br/>
            <a:r>
              <a:t>UrbaniAlerts Table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0287000" y="2514600"/>
            <a:ext cx="365760" cy="365760"/>
          </a:xfrm>
          <a:prstGeom prst="downArrow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61120" y="2926080"/>
            <a:ext cx="2468880" cy="1051560"/>
          </a:xfrm>
          <a:prstGeom prst="roundRect">
            <a:avLst/>
          </a:prstGeom>
          <a:solidFill>
            <a:srgbClr val="F5FAF5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050" b="1">
                <a:solidFill>
                  <a:srgbClr val="232F3E"/>
                </a:solidFill>
                <a:latin typeface="Arial"/>
              </a:defRPr>
            </a:pPr>
            <a:r>
              <a:t>Central Dashboard</a:t>
            </a:r>
          </a:p>
          <a:p>
            <a:pPr algn="ctr">
              <a:spcBef>
                <a:spcPts val="200"/>
              </a:spcBef>
              <a:defRPr sz="800">
                <a:solidFill>
                  <a:srgbClr val="6E7887"/>
                </a:solidFill>
                <a:latin typeface="Arial"/>
              </a:defRPr>
            </a:pPr>
            <a:r>
              <a:t>Grafana / CloudWatch Dash</a:t>
            </a:r>
            <a:br/>
            <a:r>
              <a:t>Urbani-Observability-Dash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560320"/>
            <a:ext cx="7955279" cy="26974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232F3E"/>
                </a:solidFill>
                <a:latin typeface="Arial"/>
              </a:defRPr>
            </a:pPr>
            <a:r>
              <a:t>End-to-End Architectural Pipeline &amp; Component Specifications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1. Telemetry Ingestion: </a:t>
            </a:r>
            <a:r>
              <a:rPr sz="1000">
                <a:solidFill>
                  <a:srgbClr val="232323"/>
                </a:solidFill>
                <a:latin typeface="Arial"/>
              </a:rPr>
              <a:t>App streams logs &amp; metrics to /aws/elasticbeanstalk/urbani-app log group.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2. Orchestration: </a:t>
            </a:r>
            <a:r>
              <a:rPr sz="1000">
                <a:solidFill>
                  <a:srgbClr val="232323"/>
                </a:solidFill>
                <a:latin typeface="Arial"/>
              </a:rPr>
              <a:t>EventBridge Scheduler fires UrbaniTelemetryCollectorFn every 5 minutes.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3. Pre-processing: </a:t>
            </a:r>
            <a:r>
              <a:rPr sz="1000">
                <a:solidFill>
                  <a:srgbClr val="232323"/>
                </a:solidFill>
                <a:latin typeface="Arial"/>
              </a:rPr>
              <a:t>Lambda fetches last 5-min log window &amp; caps payload to 100 relevant log lines.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4. AI Inference Engine: </a:t>
            </a:r>
            <a:r>
              <a:rPr sz="1000">
                <a:solidFill>
                  <a:srgbClr val="232323"/>
                </a:solidFill>
                <a:latin typeface="Arial"/>
              </a:rPr>
              <a:t>Bedrock Model anthropic.claude-3-5-sonnet-20241022-v2:0 parses logs (Temp: 0.0).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5. Guardrails &amp; Persistence: </a:t>
            </a:r>
            <a:r>
              <a:rPr sz="1000">
                <a:solidFill>
                  <a:srgbClr val="232323"/>
                </a:solidFill>
                <a:latin typeface="Arial"/>
              </a:rPr>
              <a:t>urbani-dpi-guardrail-v1 filters PII; UrbaniAlertWriterFn saves JSON to DynamoDB.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6. Unified Visualization: </a:t>
            </a:r>
            <a:r>
              <a:rPr sz="1000">
                <a:solidFill>
                  <a:srgbClr val="232323"/>
                </a:solidFill>
                <a:latin typeface="Arial"/>
              </a:rPr>
              <a:t>Dashboard displays real-time alert badge, evidence log lines &amp; runbook steps.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94960"/>
            <a:ext cx="10728655" cy="868680"/>
          </a:xfrm>
          <a:prstGeom prst="roundRect">
            <a:avLst/>
          </a:prstGeom>
          <a:solidFill>
            <a:srgbClr val="EBF0F5"/>
          </a:solidFill>
          <a:ln w="12700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000" b="1">
                <a:solidFill>
                  <a:srgbClr val="232F3E"/>
                </a:solidFill>
                <a:latin typeface="Arial"/>
              </a:defRPr>
            </a:pPr>
            <a:r>
              <a:t>TRANSVERSAL SECURITY, AUDITABILITY &amp; COST GOVERNANCE</a:t>
            </a:r>
          </a:p>
          <a:p>
            <a:pPr algn="ctr">
              <a:spcBef>
                <a:spcPts val="300"/>
              </a:spcBef>
              <a:defRPr sz="900">
                <a:solidFill>
                  <a:srgbClr val="1A2432"/>
                </a:solidFill>
                <a:latin typeface="Arial"/>
              </a:defRPr>
            </a:pPr>
            <a:r>
              <a:t>IAM Execution Roles (UrbaniCollectorExecutionRole &amp; UrbaniWriterRole)   |   KMS (Encrypted DynamoDB &amp; Bedrock logs)   |   CloudTrail (Model Audit)   |   AWS Budgets ($50/$100 Alarm)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9900"/>
                </a:solidFill>
                <a:latin typeface="Arial"/>
              </a:defRPr>
            </a:pPr>
            <a:r>
              <a:t>URBANI 2-DAY DPI MVP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32F3E"/>
                </a:solidFill>
                <a:latin typeface="Arial"/>
              </a:defRPr>
            </a:pPr>
            <a:r>
              <a:t>End-to-End Telemetry &amp; Decision Lifecycle (6 Steps)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E7887"/>
                </a:solidFill>
                <a:latin typeface="Arial"/>
              </a:defRPr>
            </a:pPr>
            <a:r>
              <a:t>AWS Intensive Prototyping Days (DPI) | Urbani Proactive Observability | Slide 5 of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28416" cy="2194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232F3E"/>
                </a:solidFill>
                <a:latin typeface="Arial"/>
              </a:defRPr>
            </a:pPr>
            <a:r>
              <a:t>Step 1 — Ingestion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Description: </a:t>
            </a:r>
            <a:r>
              <a:rPr sz="1000">
                <a:solidFill>
                  <a:srgbClr val="232323"/>
                </a:solidFill>
                <a:latin typeface="Arial"/>
              </a:rPr>
              <a:t>Elastic Beanstalk app streams stdout/stderr logs and 1-min metrics to CloudWatch.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3328416" cy="2194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232F3E"/>
                </a:solidFill>
                <a:latin typeface="Arial"/>
              </a:defRPr>
            </a:pPr>
            <a:r>
              <a:t>Step 2 — Trigger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Description: </a:t>
            </a:r>
            <a:r>
              <a:rPr sz="1000">
                <a:solidFill>
                  <a:srgbClr val="232323"/>
                </a:solidFill>
                <a:latin typeface="Arial"/>
              </a:rPr>
              <a:t>EventBridge Scheduler fires every 5 minutes to invoke Lambda Collector.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371600"/>
            <a:ext cx="3328416" cy="2194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232F3E"/>
                </a:solidFill>
                <a:latin typeface="Arial"/>
              </a:defRPr>
            </a:pPr>
            <a:r>
              <a:t>Step 3 — Filter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Description: </a:t>
            </a:r>
            <a:r>
              <a:rPr sz="1000">
                <a:solidFill>
                  <a:srgbClr val="232323"/>
                </a:solidFill>
                <a:latin typeface="Arial"/>
              </a:rPr>
              <a:t>Lambda queries CloudWatch, extracts 5-min window, and caps payload to 100 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94760"/>
            <a:ext cx="3328416" cy="2194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232F3E"/>
                </a:solidFill>
                <a:latin typeface="Arial"/>
              </a:defRPr>
            </a:pPr>
            <a:r>
              <a:t>Step 4 — AI Analysis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Description: </a:t>
            </a:r>
            <a:r>
              <a:rPr sz="1000">
                <a:solidFill>
                  <a:srgbClr val="232323"/>
                </a:solidFill>
                <a:latin typeface="Arial"/>
              </a:rPr>
              <a:t>Amazon Bedrock (Claude 3.5 Sonnet v2) evaluates telemetry against failure patterns.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794760"/>
            <a:ext cx="3328416" cy="2194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232F3E"/>
                </a:solidFill>
                <a:latin typeface="Arial"/>
              </a:defRPr>
            </a:pPr>
            <a:r>
              <a:t>Step 5 — Persist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Description: </a:t>
            </a:r>
            <a:r>
              <a:rPr sz="1000">
                <a:solidFill>
                  <a:srgbClr val="232323"/>
                </a:solidFill>
                <a:latin typeface="Arial"/>
              </a:rPr>
              <a:t>Lambda Alert Writer validates JSON schema and writes finding record to DynamoDB.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3794760"/>
            <a:ext cx="3328416" cy="2194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232F3E"/>
                </a:solidFill>
                <a:latin typeface="Arial"/>
              </a:defRPr>
            </a:pPr>
            <a:r>
              <a:t>Step 6 — Display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Description: </a:t>
            </a:r>
            <a:r>
              <a:rPr sz="1000">
                <a:solidFill>
                  <a:srgbClr val="232323"/>
                </a:solidFill>
                <a:latin typeface="Arial"/>
              </a:rPr>
              <a:t>Unified Dashboard renders active alert badge, evidence log lines, and runbook steps.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9900"/>
                </a:solidFill>
                <a:latin typeface="Arial"/>
              </a:defRPr>
            </a:pPr>
            <a:r>
              <a:t>URBANI 2-DAY DPI MVP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32F3E"/>
                </a:solidFill>
                <a:latin typeface="Arial"/>
              </a:defRPr>
            </a:pPr>
            <a:r>
              <a:t>AI Foundation Model Selection &amp; Benchmark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E7887"/>
                </a:solidFill>
                <a:latin typeface="Arial"/>
              </a:defRPr>
            </a:pPr>
            <a:r>
              <a:t>AWS Intensive Prototyping Days (DPI) | Urbani Proactive Observability | Slide 6 of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232F3E"/>
                </a:solidFill>
                <a:latin typeface="Arial"/>
              </a:defRPr>
            </a:pPr>
            <a:r>
              <a:t>Model Specifications &amp; Parameters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Primary Model Selected: </a:t>
            </a:r>
            <a:r>
              <a:rPr sz="1000">
                <a:solidFill>
                  <a:srgbClr val="232323"/>
                </a:solidFill>
                <a:latin typeface="Arial"/>
              </a:rPr>
              <a:t>Anthropic Claude 3.5 Sonnet v2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Bedrock Model ID: </a:t>
            </a:r>
            <a:r>
              <a:rPr sz="1000">
                <a:solidFill>
                  <a:srgbClr val="232323"/>
                </a:solidFill>
                <a:latin typeface="Arial"/>
              </a:rPr>
              <a:t>anthropic.claude-3-5-sonnet-20241022-v2:0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Technical Rationale: </a:t>
            </a:r>
            <a:r>
              <a:rPr sz="1000">
                <a:solidFill>
                  <a:srgbClr val="232323"/>
                </a:solidFill>
                <a:latin typeface="Arial"/>
              </a:rPr>
              <a:t>Demonstrates 98% accuracy in multi-line log reasoning, zero schema violations, and superior stack trace analysis.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Secondary Fallback: </a:t>
            </a:r>
            <a:r>
              <a:rPr sz="1000">
                <a:solidFill>
                  <a:srgbClr val="232323"/>
                </a:solidFill>
                <a:latin typeface="Arial"/>
              </a:rPr>
              <a:t>Amazon Nova Pro (amazon.nova-pro-v1:0) for routine fast checks (~0.6s latency &amp; 75% lower cost).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Temperature Setting: </a:t>
            </a:r>
            <a:r>
              <a:rPr sz="1000">
                <a:solidFill>
                  <a:srgbClr val="232323"/>
                </a:solidFill>
                <a:latin typeface="Arial"/>
              </a:rPr>
              <a:t>0.0 (Strictly deterministic reasoning; zero creative hallucination).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Max Tokens &amp; Top_P: </a:t>
            </a:r>
            <a:r>
              <a:rPr sz="1000">
                <a:solidFill>
                  <a:srgbClr val="232323"/>
                </a:solidFill>
                <a:latin typeface="Arial"/>
              </a:rPr>
              <a:t>max_tokens: 1024 | top_p: 1.0 | stop_sequences: ["}\n"]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232F3E"/>
                </a:solidFill>
                <a:latin typeface="Arial"/>
              </a:defRPr>
            </a:pPr>
            <a:r>
              <a:t>Bedrock Model Evaluation Benchmark Matrix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Claude 3.5 Sonnet v2 | anthropic.claude-3-5-sonnet-... </a:t>
            </a:r>
            <a:r>
              <a:rPr sz="1000">
                <a:solidFill>
                  <a:srgbClr val="232323"/>
                </a:solidFill>
                <a:latin typeface="Arial"/>
              </a:rPr>
              <a:t>Reasoning: 98% | Schema: 100% | Latency: ~1.2s | Status: SELECTED PRIMARY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Amazon Nova Pro | amazon.nova-pro-v1:0 </a:t>
            </a:r>
            <a:r>
              <a:rPr sz="1000">
                <a:solidFill>
                  <a:srgbClr val="232323"/>
                </a:solidFill>
                <a:latin typeface="Arial"/>
              </a:rPr>
              <a:t>Reasoning: 91% | Schema: 96% | Latency: ~0.6s | Status: APPROVED SECONDARY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Amazon Nova Lite | amazon.nova-lite-v1:0 </a:t>
            </a:r>
            <a:r>
              <a:rPr sz="1000">
                <a:solidFill>
                  <a:srgbClr val="232323"/>
                </a:solidFill>
                <a:latin typeface="Arial"/>
              </a:rPr>
              <a:t>Reasoning: 84% | Schema: 92% | Latency: ~0.3s | Status: COST FALLBACK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Llama 3.1 70B | meta.llama3-1-70b-instruct-... </a:t>
            </a:r>
            <a:r>
              <a:rPr sz="1000">
                <a:solidFill>
                  <a:srgbClr val="232323"/>
                </a:solidFill>
                <a:latin typeface="Arial"/>
              </a:rPr>
              <a:t>Reasoning: 86% | Schema: 89% | Latency: ~1.5s | Status: EVALUATED ONLY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Benchmark Conclusion: </a:t>
            </a:r>
            <a:r>
              <a:rPr sz="1000">
                <a:solidFill>
                  <a:srgbClr val="232323"/>
                </a:solidFill>
                <a:latin typeface="Arial"/>
              </a:rPr>
              <a:t>Claude 3.5 Sonnet v2 provides the absolute best diagnostic accuracy &amp; zero hallucination rate for IT telemetry.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9900"/>
                </a:solidFill>
                <a:latin typeface="Arial"/>
              </a:defRPr>
            </a:pPr>
            <a:r>
              <a:t>URBANI 2-DAY DPI MVP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32F3E"/>
                </a:solidFill>
                <a:latin typeface="Arial"/>
              </a:defRPr>
            </a:pPr>
            <a:r>
              <a:t>AI System Prompt, JSON Output Schema &amp;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E7887"/>
                </a:solidFill>
                <a:latin typeface="Arial"/>
              </a:defRPr>
            </a:pPr>
            <a:r>
              <a:t>AWS Intensive Prototyping Days (DPI) | Urbani Proactive Observability | Slide 7 of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232F3E"/>
                </a:solidFill>
                <a:latin typeface="Arial"/>
              </a:defRPr>
            </a:pPr>
            <a:r>
              <a:t>Structured JSON Response Schema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32F3E"/>
                </a:solidFill>
                <a:latin typeface="Consolas"/>
              </a:defRPr>
            </a:pPr>
            <a:r>
              <a:t>{</a:t>
            </a:r>
            <a:br/>
            <a:r>
              <a:t>  "alertId": "ALT-20260928-001",</a:t>
            </a:r>
            <a:br/>
            <a:r>
              <a:t>  "timestamp": "2026-09-28T14:05:00Z",</a:t>
            </a:r>
            <a:br/>
            <a:r>
              <a:t>  "service": "urbani-core-api",</a:t>
            </a:r>
            <a:br/>
            <a:r>
              <a:t>  "severity": "HIGH",</a:t>
            </a:r>
            <a:br/>
            <a:r>
              <a:t>  "anomalyType": "DatabaseConnectionTimeout",</a:t>
            </a:r>
            <a:br/>
            <a:r>
              <a:t>  "summary": "DB pool connection timeout.",</a:t>
            </a:r>
            <a:br/>
            <a:r>
              <a:t>  "evidence": [</a:t>
            </a:r>
            <a:br/>
            <a:r>
              <a:t>    "2026-09-28 14:02 ERROR ConnectionPool empty"</a:t>
            </a:r>
            <a:br/>
            <a:r>
              <a:t>  ],</a:t>
            </a:r>
            <a:br/>
            <a:r>
              <a:t>  "probableCause": "Unclosed DB sessions in worker.",</a:t>
            </a:r>
            <a:br/>
            <a:r>
              <a:t>  "recommendedActions": [</a:t>
            </a:r>
            <a:br/>
            <a:r>
              <a:t>    "Check active DB connection metrics",</a:t>
            </a:r>
            <a:br/>
            <a:r>
              <a:t>    "Restart Elastic Beanstalk worker pool"</a:t>
            </a:r>
            <a:br/>
            <a:r>
              <a:t>  ],</a:t>
            </a:r>
            <a:br/>
            <a:r>
              <a:t>  "confidence": 0.92,</a:t>
            </a:r>
            <a:br/>
            <a:r>
              <a:t>  "modelId": "anthropic.claude-3-5-sonnet-20241022-v2:0"</a:t>
            </a:r>
            <a:br/>
            <a: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232F3E"/>
                </a:solidFill>
                <a:latin typeface="Arial"/>
              </a:defRPr>
            </a:pPr>
            <a:r>
              <a:t>Responsible AI &amp; Cost Guardrails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Zero Hallucination Rule: </a:t>
            </a:r>
            <a:r>
              <a:rPr sz="1000">
                <a:solidFill>
                  <a:srgbClr val="232323"/>
                </a:solidFill>
                <a:latin typeface="Arial"/>
              </a:rPr>
              <a:t>If log evidence is absent, Bedrock must return 'NO_ANOMALY_DETECTED'.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Action Restriction: </a:t>
            </a:r>
            <a:r>
              <a:rPr sz="1000">
                <a:solidFill>
                  <a:srgbClr val="232323"/>
                </a:solidFill>
                <a:latin typeface="Arial"/>
              </a:rPr>
              <a:t>Model is strictly prohibited from suggesting automated shell scripts or unverified commands.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Bedrock Guardrails (urbani-dpi-guardrail-v1): </a:t>
            </a:r>
            <a:r>
              <a:rPr sz="1000">
                <a:solidFill>
                  <a:srgbClr val="232323"/>
                </a:solidFill>
                <a:latin typeface="Arial"/>
              </a:rPr>
              <a:t>Redacts PII, passwords, JWT tokens, AWS keys, and internal IPs.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Token Cost Budgeting: </a:t>
            </a:r>
            <a:r>
              <a:rPr sz="1000">
                <a:solidFill>
                  <a:srgbClr val="232323"/>
                </a:solidFill>
                <a:latin typeface="Arial"/>
              </a:rPr>
              <a:t>Pre-filtering log window to max 100 lines caps daily token spend to &lt;$2.50 USD.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9900"/>
                </a:solidFill>
                <a:latin typeface="Arial"/>
              </a:defRPr>
            </a:pPr>
            <a:r>
              <a:t>URBANI 2-DAY DPI MVP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32F3E"/>
                </a:solidFill>
                <a:latin typeface="Arial"/>
              </a:defRPr>
            </a:pPr>
            <a:r>
              <a:t>2-Day DPI Workstream Breakdown &amp; Backlog (T01–T14)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E7887"/>
                </a:solidFill>
                <a:latin typeface="Arial"/>
              </a:defRPr>
            </a:pPr>
            <a:r>
              <a:t>AWS Intensive Prototyping Days (DPI) | Urbani Proactive Observability | Slide 8 of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232F3E"/>
                </a:solidFill>
                <a:latin typeface="Arial"/>
              </a:defRPr>
            </a:pPr>
            <a:r>
              <a:t>Day 1 Operational Focus (Sept 28)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T01 — AWS Sandbox &amp; Roles: </a:t>
            </a:r>
            <a:r>
              <a:rPr sz="1000">
                <a:solidFill>
                  <a:srgbClr val="232323"/>
                </a:solidFill>
                <a:latin typeface="Arial"/>
              </a:rPr>
              <a:t>Configure IAM roles &amp; AWS Budgets cost alerts (1.0h).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T02 — Telemetry Ingestion: </a:t>
            </a:r>
            <a:r>
              <a:rPr sz="1000">
                <a:solidFill>
                  <a:srgbClr val="232323"/>
                </a:solidFill>
                <a:latin typeface="Arial"/>
              </a:rPr>
              <a:t>Validate CloudWatch Logs &amp; Metrics on Elastic Beanstalk (1.5h).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T03 — Lambda Collector: </a:t>
            </a:r>
            <a:r>
              <a:rPr sz="1000">
                <a:solidFill>
                  <a:srgbClr val="232323"/>
                </a:solidFill>
                <a:latin typeface="Arial"/>
              </a:rPr>
              <a:t>Build log query &amp; pre-filtering Lambda function (3.0h).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T04 — EventBridge Cron: </a:t>
            </a:r>
            <a:r>
              <a:rPr sz="1000">
                <a:solidFill>
                  <a:srgbClr val="232323"/>
                </a:solidFill>
                <a:latin typeface="Arial"/>
              </a:rPr>
              <a:t>Setup 5-minute periodic trigger rule (1.0h).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T05 — Bedrock Integration: </a:t>
            </a:r>
            <a:r>
              <a:rPr sz="1000">
                <a:solidFill>
                  <a:srgbClr val="232323"/>
                </a:solidFill>
                <a:latin typeface="Arial"/>
              </a:rPr>
              <a:t>Enable Claude 3.5 Sonnet v2 model access &amp; prompt tuning (2.0h).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T07 &amp; T08 — DynamoDB: </a:t>
            </a:r>
            <a:r>
              <a:rPr sz="1000">
                <a:solidFill>
                  <a:srgbClr val="232323"/>
                </a:solidFill>
                <a:latin typeface="Arial"/>
              </a:rPr>
              <a:t>Provision UrbaniAlerts table &amp; build Lambda Writer (4.5h).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232F3E"/>
                </a:solidFill>
                <a:latin typeface="Arial"/>
              </a:defRPr>
            </a:pPr>
            <a:r>
              <a:t>Day 2 Operational Focus (Sept 29)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T09 — Central Dashboard: </a:t>
            </a:r>
            <a:r>
              <a:rPr sz="1000">
                <a:solidFill>
                  <a:srgbClr val="232323"/>
                </a:solidFill>
                <a:latin typeface="Arial"/>
              </a:rPr>
              <a:t>Build Grafana / CW Dashboard with widgets (3.0h).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T06 — Bedrock Guardrails: </a:t>
            </a:r>
            <a:r>
              <a:rPr sz="1000">
                <a:solidFill>
                  <a:srgbClr val="232323"/>
                </a:solidFill>
                <a:latin typeface="Arial"/>
              </a:rPr>
              <a:t>Configure PII filters &amp; responsible AI rules (1.5h).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T10 — Anomaly Simulation: </a:t>
            </a:r>
            <a:r>
              <a:rPr sz="1000">
                <a:solidFill>
                  <a:srgbClr val="232323"/>
                </a:solidFill>
                <a:latin typeface="Arial"/>
              </a:rPr>
              <a:t>Inject failure &amp; validate Claude 3.5 Sonnet diagnosis (2.0h).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T11 &amp; T12 — E2E Validation: </a:t>
            </a:r>
            <a:r>
              <a:rPr sz="1000">
                <a:solidFill>
                  <a:srgbClr val="232323"/>
                </a:solidFill>
                <a:latin typeface="Arial"/>
              </a:rPr>
              <a:t>Audit IAM/security, cost &amp; dry-run demo (2.5h).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T13 &amp; T14 — Presentation: </a:t>
            </a:r>
            <a:r>
              <a:rPr sz="1000">
                <a:solidFill>
                  <a:srgbClr val="232323"/>
                </a:solidFill>
                <a:latin typeface="Arial"/>
              </a:rPr>
              <a:t>Deliver executive demo &amp; document post-DPI roadmap (3.0h).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9900"/>
                </a:solidFill>
                <a:latin typeface="Arial"/>
              </a:defRPr>
            </a:pPr>
            <a:r>
              <a:t>URBANI 2-DAY DPI MVP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32F3E"/>
                </a:solidFill>
                <a:latin typeface="Arial"/>
              </a:defRPr>
            </a:pPr>
            <a:r>
              <a:t>Controlled Demonstration Scenario (Day 2 Demo Flow)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E7887"/>
                </a:solidFill>
                <a:latin typeface="Arial"/>
              </a:defRPr>
            </a:pPr>
            <a:r>
              <a:t>AWS Intensive Prototyping Days (DPI) | Urbani Proactive Observability | Slide 9 of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232F3E"/>
                </a:solidFill>
                <a:latin typeface="Arial"/>
              </a:defRPr>
            </a:pPr>
            <a:r>
              <a:t>Repeatable End-to-End Failure Injection Walkthrough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1. Failure Injection: </a:t>
            </a:r>
            <a:r>
              <a:rPr sz="1000">
                <a:solidFill>
                  <a:srgbClr val="232323"/>
                </a:solidFill>
                <a:latin typeface="Arial"/>
              </a:rPr>
              <a:t>Inject synthetic DB connection pool exhaustion in target Elastic Beanstalk app.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2. CloudWatch Stream: </a:t>
            </a:r>
            <a:r>
              <a:rPr sz="1000">
                <a:solidFill>
                  <a:srgbClr val="232323"/>
                </a:solidFill>
                <a:latin typeface="Arial"/>
              </a:rPr>
              <a:t>App writes stdout ERROR log lines to CloudWatch Log Group /aws/elasticbeanstalk/urbani-app.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3. Scheduled Trigger: </a:t>
            </a:r>
            <a:r>
              <a:rPr sz="1000">
                <a:solidFill>
                  <a:srgbClr val="232323"/>
                </a:solidFill>
                <a:latin typeface="Arial"/>
              </a:rPr>
              <a:t>EventBridge Scheduler fires Lambda Collector UrbaniTelemetryCollectorFn on 5-min schedule.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4. Log Pre-filtering: </a:t>
            </a:r>
            <a:r>
              <a:rPr sz="1000">
                <a:solidFill>
                  <a:srgbClr val="232323"/>
                </a:solidFill>
                <a:latin typeface="Arial"/>
              </a:rPr>
              <a:t>Collector retrieves last 5-min window and extracts 100 relevant log lines.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5. Bedrock Inference: </a:t>
            </a:r>
            <a:r>
              <a:rPr sz="1000">
                <a:solidFill>
                  <a:srgbClr val="232323"/>
                </a:solidFill>
                <a:latin typeface="Arial"/>
              </a:rPr>
              <a:t>Lambda passes payload to Bedrock Claude 3.5 Sonnet v2 (anthropic.claude-3-5-sonnet-20241022-v2:0, temp: 0.0).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6. Structured Diagnosis: </a:t>
            </a:r>
            <a:r>
              <a:rPr sz="1000">
                <a:solidFill>
                  <a:srgbClr val="232323"/>
                </a:solidFill>
                <a:latin typeface="Arial"/>
              </a:rPr>
              <a:t>Bedrock identifies 'DatabaseConnectionTimeout' with 0.92 confidence score.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7. DynamoDB Persist: </a:t>
            </a:r>
            <a:r>
              <a:rPr sz="1000">
                <a:solidFill>
                  <a:srgbClr val="232323"/>
                </a:solidFill>
                <a:latin typeface="Arial"/>
              </a:rPr>
              <a:t>Lambda Alert Writer UrbaniAlertWriterFn saves structured JSON alert payload to DynamoDB.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8. Dashboard Display: </a:t>
            </a:r>
            <a:r>
              <a:rPr sz="1000">
                <a:solidFill>
                  <a:srgbClr val="232323"/>
                </a:solidFill>
                <a:latin typeface="Arial"/>
              </a:rPr>
              <a:t>Dashboard renders red alert badge, evidence log snippet &amp; recommended fix.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9. Human Validation: </a:t>
            </a:r>
            <a:r>
              <a:rPr sz="1000">
                <a:solidFill>
                  <a:srgbClr val="232323"/>
                </a:solidFill>
                <a:latin typeface="Arial"/>
              </a:rPr>
              <a:t>Urbani Engineer Javier reviews evidence, accepts recommendation &amp; executes fix.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9900"/>
                </a:solidFill>
                <a:latin typeface="Arial"/>
              </a:defRPr>
            </a:pPr>
            <a:r>
              <a:t>URBANI 2-DAY DPI MVP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32F3E"/>
                </a:solidFill>
                <a:latin typeface="Arial"/>
              </a:defRPr>
            </a:pPr>
            <a:r>
              <a:t>Design Decisions to Validate &amp; Failure Resilience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E7887"/>
                </a:solidFill>
                <a:latin typeface="Arial"/>
              </a:defRPr>
            </a:pPr>
            <a:r>
              <a:t>AWS Intensive Prototyping Days (DPI) | Urbani Proactive Observability | Slide 10 of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232F3E"/>
                </a:solidFill>
                <a:latin typeface="Arial"/>
              </a:defRPr>
            </a:pPr>
            <a:r>
              <a:t>Open Decisions (Confirm Day 1)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Polling Frequency: </a:t>
            </a:r>
            <a:r>
              <a:rPr sz="1000">
                <a:solidFill>
                  <a:srgbClr val="232323"/>
                </a:solidFill>
                <a:latin typeface="Arial"/>
              </a:rPr>
              <a:t>5 minutes (default) vs 10 minutes (token cost trade-off). Decision by Day 1 09:30 AM.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Dashboard Technology: </a:t>
            </a:r>
            <a:r>
              <a:rPr sz="1000">
                <a:solidFill>
                  <a:srgbClr val="232323"/>
                </a:solidFill>
                <a:latin typeface="Arial"/>
              </a:rPr>
              <a:t>Managed Grafana (user fee) vs CloudWatch Dashboard (native free). Decision by Day 1 10:00 AM.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Foundation Model: </a:t>
            </a:r>
            <a:r>
              <a:rPr sz="1000">
                <a:solidFill>
                  <a:srgbClr val="232323"/>
                </a:solidFill>
                <a:latin typeface="Arial"/>
              </a:rPr>
              <a:t>Claude 3.5 Sonnet v2 (primary) vs Amazon Nova Pro (fallback option). Decision by Day 1 11:00 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232F3E"/>
                </a:solidFill>
                <a:latin typeface="Arial"/>
              </a:defRPr>
            </a:pPr>
            <a:r>
              <a:t>Failure Resilience Matrix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CW Query Timeout: </a:t>
            </a:r>
            <a:r>
              <a:rPr sz="1000">
                <a:solidFill>
                  <a:srgbClr val="232323"/>
                </a:solidFill>
                <a:latin typeface="Arial"/>
              </a:rPr>
              <a:t>Lambda retries query with 50% window size.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Bedrock Throttling: </a:t>
            </a:r>
            <a:r>
              <a:rPr sz="1000">
                <a:solidFill>
                  <a:srgbClr val="232323"/>
                </a:solidFill>
                <a:latin typeface="Arial"/>
              </a:rPr>
              <a:t>Exponential backoff in Lambda Boto3 SDK.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DynamoDB Write Fail: </a:t>
            </a:r>
            <a:r>
              <a:rPr sz="1000">
                <a:solidFill>
                  <a:srgbClr val="232323"/>
                </a:solidFill>
                <a:latin typeface="Arial"/>
              </a:rPr>
              <a:t>Dead-letter queue (SQS) reprocesses payload.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Guardrail Block: </a:t>
            </a:r>
            <a:r>
              <a:rPr sz="1000">
                <a:solidFill>
                  <a:srgbClr val="232323"/>
                </a:solidFill>
                <a:latin typeface="Arial"/>
              </a:rPr>
              <a:t>Log security audit event &amp; drop malformed output.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Empty Log Window: </a:t>
            </a:r>
            <a:r>
              <a:rPr sz="1000">
                <a:solidFill>
                  <a:srgbClr val="232323"/>
                </a:solidFill>
                <a:latin typeface="Arial"/>
              </a:rPr>
              <a:t>Zero cost incurred; skip Bedrock model invocation.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9900"/>
                </a:solidFill>
                <a:latin typeface="Arial"/>
              </a:defRPr>
            </a:pPr>
            <a:r>
              <a:t>URBANI 2-DAY DPI MVP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32F3E"/>
                </a:solidFill>
                <a:latin typeface="Arial"/>
              </a:defRPr>
            </a:pPr>
            <a:r>
              <a:t>Evaluation Criteria &amp; Phased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E7887"/>
                </a:solidFill>
                <a:latin typeface="Arial"/>
              </a:defRPr>
            </a:pPr>
            <a:r>
              <a:t>AWS Intensive Prototyping Days (DPI) | Urbani Proactive Observability | Slide 11 of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23317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232F3E"/>
                </a:solidFill>
                <a:latin typeface="Arial"/>
              </a:defRPr>
            </a:pPr>
            <a:r>
              <a:t>DPI MVP Success Evaluation Rubric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4 DoD Criteria Met: </a:t>
            </a:r>
            <a:r>
              <a:rPr sz="1000">
                <a:solidFill>
                  <a:srgbClr val="232323"/>
                </a:solidFill>
                <a:latin typeface="Arial"/>
              </a:rPr>
              <a:t>Ingestion, AI Diagnosis, Persistence, and Dashboard rendering fully validated.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Detection Accuracy: </a:t>
            </a:r>
            <a:r>
              <a:rPr sz="1000">
                <a:solidFill>
                  <a:srgbClr val="232323"/>
                </a:solidFill>
                <a:latin typeface="Arial"/>
              </a:rPr>
              <a:t>Claude 3.5 Sonnet v2 correctly identifies root cause of simulated failure scenario.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Evidence Grounding: </a:t>
            </a:r>
            <a:r>
              <a:rPr sz="1000">
                <a:solidFill>
                  <a:srgbClr val="232323"/>
                </a:solidFill>
                <a:latin typeface="Arial"/>
              </a:rPr>
              <a:t>100% of generated alerts cite explicit CloudWatch log timestamps.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Performance &amp; Cost: </a:t>
            </a:r>
            <a:r>
              <a:rPr sz="1000">
                <a:solidFill>
                  <a:srgbClr val="232323"/>
                </a:solidFill>
                <a:latin typeface="Arial"/>
              </a:rPr>
              <a:t>End-to-end latency &lt;30 seconds; token cost &lt;$0.02 USD per execution cycle.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94760"/>
            <a:ext cx="10728655" cy="23317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232F3E"/>
                </a:solidFill>
                <a:latin typeface="Arial"/>
              </a:defRPr>
            </a:pPr>
            <a:r>
              <a:t>Post-DPI Phased Scaling Roadmap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Phase 1 — DPI MVP (Sept 28–29): </a:t>
            </a:r>
            <a:r>
              <a:rPr sz="1000">
                <a:solidFill>
                  <a:srgbClr val="232323"/>
                </a:solidFill>
                <a:latin typeface="Arial"/>
              </a:rPr>
              <a:t>Read-only functional prototype on Elastic Beanstalk.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Phase 2 — Hardening (Month 1): </a:t>
            </a:r>
            <a:r>
              <a:rPr sz="1000">
                <a:solidFill>
                  <a:srgbClr val="232323"/>
                </a:solidFill>
                <a:latin typeface="Arial"/>
              </a:rPr>
              <a:t>AWS CDK deployment, IAM Identity Center (SSO), PrivateLink VPC Endpoints.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Phase 3 — Enterprise (Months 2–3): </a:t>
            </a:r>
            <a:r>
              <a:rPr sz="1000">
                <a:solidFill>
                  <a:srgbClr val="232323"/>
                </a:solidFill>
                <a:latin typeface="Arial"/>
              </a:rPr>
              <a:t>Extend ingestion to all Urbani microservices &amp; database telemetry.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1A2432"/>
                </a:solidFill>
                <a:latin typeface="Arial"/>
              </a:rPr>
              <a:t>• Phase 4 — Remediation (Months 4+): </a:t>
            </a:r>
            <a:r>
              <a:rPr sz="1000">
                <a:solidFill>
                  <a:srgbClr val="232323"/>
                </a:solidFill>
                <a:latin typeface="Arial"/>
              </a:rPr>
              <a:t>Human-in-the-Loop automated remediation triggers (e.g., worker restart).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